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5093F0-BC8E-F534-198F-ED00B6277618}" v="24" dt="2026-06-03T15:34:30.476"/>
    <p1510:client id="{826D6C2F-2BA6-076F-FAB0-F408879A3E8E}" v="17" dt="2026-06-03T13:36:08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2dceae9c-a7e4-44ca-93fc-e091c9984b81::" providerId="AD" clId="Web-{826D6C2F-2BA6-076F-FAB0-F408879A3E8E}"/>
    <pc:docChg chg="addSld delSld">
      <pc:chgData name="Guest User" userId="S::urn:spo:tenantanon#2dceae9c-a7e4-44ca-93fc-e091c9984b81::" providerId="AD" clId="Web-{826D6C2F-2BA6-076F-FAB0-F408879A3E8E}" dt="2026-06-03T13:36:08.149" v="16"/>
      <pc:docMkLst>
        <pc:docMk/>
      </pc:docMkLst>
      <pc:sldChg chg="add del">
        <pc:chgData name="Guest User" userId="S::urn:spo:tenantanon#2dceae9c-a7e4-44ca-93fc-e091c9984b81::" providerId="AD" clId="Web-{826D6C2F-2BA6-076F-FAB0-F408879A3E8E}" dt="2026-06-03T13:36:05.836" v="9"/>
        <pc:sldMkLst>
          <pc:docMk/>
          <pc:sldMk cId="0" sldId="256"/>
        </pc:sldMkLst>
      </pc:sldChg>
      <pc:sldChg chg="add del">
        <pc:chgData name="Guest User" userId="S::urn:spo:tenantanon#2dceae9c-a7e4-44ca-93fc-e091c9984b81::" providerId="AD" clId="Web-{826D6C2F-2BA6-076F-FAB0-F408879A3E8E}" dt="2026-06-03T13:36:06.133" v="10"/>
        <pc:sldMkLst>
          <pc:docMk/>
          <pc:sldMk cId="0" sldId="257"/>
        </pc:sldMkLst>
      </pc:sldChg>
      <pc:sldChg chg="add del">
        <pc:chgData name="Guest User" userId="S::urn:spo:tenantanon#2dceae9c-a7e4-44ca-93fc-e091c9984b81::" providerId="AD" clId="Web-{826D6C2F-2BA6-076F-FAB0-F408879A3E8E}" dt="2026-06-03T13:36:06.477" v="11"/>
        <pc:sldMkLst>
          <pc:docMk/>
          <pc:sldMk cId="0" sldId="258"/>
        </pc:sldMkLst>
      </pc:sldChg>
      <pc:sldChg chg="add del">
        <pc:chgData name="Guest User" userId="S::urn:spo:tenantanon#2dceae9c-a7e4-44ca-93fc-e091c9984b81::" providerId="AD" clId="Web-{826D6C2F-2BA6-076F-FAB0-F408879A3E8E}" dt="2026-06-03T13:36:06.836" v="12"/>
        <pc:sldMkLst>
          <pc:docMk/>
          <pc:sldMk cId="0" sldId="259"/>
        </pc:sldMkLst>
      </pc:sldChg>
      <pc:sldChg chg="add del">
        <pc:chgData name="Guest User" userId="S::urn:spo:tenantanon#2dceae9c-a7e4-44ca-93fc-e091c9984b81::" providerId="AD" clId="Web-{826D6C2F-2BA6-076F-FAB0-F408879A3E8E}" dt="2026-06-03T13:36:07.180" v="13"/>
        <pc:sldMkLst>
          <pc:docMk/>
          <pc:sldMk cId="0" sldId="260"/>
        </pc:sldMkLst>
      </pc:sldChg>
      <pc:sldChg chg="add del">
        <pc:chgData name="Guest User" userId="S::urn:spo:tenantanon#2dceae9c-a7e4-44ca-93fc-e091c9984b81::" providerId="AD" clId="Web-{826D6C2F-2BA6-076F-FAB0-F408879A3E8E}" dt="2026-06-03T13:36:07.493" v="14"/>
        <pc:sldMkLst>
          <pc:docMk/>
          <pc:sldMk cId="0" sldId="261"/>
        </pc:sldMkLst>
      </pc:sldChg>
      <pc:sldChg chg="add del">
        <pc:chgData name="Guest User" userId="S::urn:spo:tenantanon#2dceae9c-a7e4-44ca-93fc-e091c9984b81::" providerId="AD" clId="Web-{826D6C2F-2BA6-076F-FAB0-F408879A3E8E}" dt="2026-06-03T13:36:07.899" v="15"/>
        <pc:sldMkLst>
          <pc:docMk/>
          <pc:sldMk cId="0" sldId="262"/>
        </pc:sldMkLst>
      </pc:sldChg>
      <pc:sldChg chg="add del">
        <pc:chgData name="Guest User" userId="S::urn:spo:tenantanon#2dceae9c-a7e4-44ca-93fc-e091c9984b81::" providerId="AD" clId="Web-{826D6C2F-2BA6-076F-FAB0-F408879A3E8E}" dt="2026-06-03T13:36:08.149" v="16"/>
        <pc:sldMkLst>
          <pc:docMk/>
          <pc:sldMk cId="0" sldId="263"/>
        </pc:sldMkLst>
      </pc:sldChg>
      <pc:sldChg chg="del">
        <pc:chgData name="Guest User" userId="S::urn:spo:tenantanon#2dceae9c-a7e4-44ca-93fc-e091c9984b81::" providerId="AD" clId="Web-{826D6C2F-2BA6-076F-FAB0-F408879A3E8E}" dt="2026-06-03T13:35:57.039" v="0"/>
        <pc:sldMkLst>
          <pc:docMk/>
          <pc:sldMk cId="0" sldId="264"/>
        </pc:sldMkLst>
      </pc:sldChg>
    </pc:docChg>
  </pc:docChgLst>
  <pc:docChgLst>
    <pc:chgData name="Guest User" userId="S::urn:spo:tenantanon#2dceae9c-a7e4-44ca-93fc-e091c9984b81::" providerId="AD" clId="Web-{245093F0-BC8E-F534-198F-ED00B6277618}"/>
    <pc:docChg chg="modSld">
      <pc:chgData name="Guest User" userId="S::urn:spo:tenantanon#2dceae9c-a7e4-44ca-93fc-e091c9984b81::" providerId="AD" clId="Web-{245093F0-BC8E-F534-198F-ED00B6277618}" dt="2026-06-03T15:34:30.476" v="22" actId="14100"/>
      <pc:docMkLst>
        <pc:docMk/>
      </pc:docMkLst>
      <pc:sldChg chg="modSp">
        <pc:chgData name="Guest User" userId="S::urn:spo:tenantanon#2dceae9c-a7e4-44ca-93fc-e091c9984b81::" providerId="AD" clId="Web-{245093F0-BC8E-F534-198F-ED00B6277618}" dt="2026-06-03T15:23:43.541" v="2" actId="20577"/>
        <pc:sldMkLst>
          <pc:docMk/>
          <pc:sldMk cId="0" sldId="256"/>
        </pc:sldMkLst>
        <pc:spChg chg="mod">
          <ac:chgData name="Guest User" userId="S::urn:spo:tenantanon#2dceae9c-a7e4-44ca-93fc-e091c9984b81::" providerId="AD" clId="Web-{245093F0-BC8E-F534-198F-ED00B6277618}" dt="2026-06-03T15:23:43.541" v="2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">
        <pc:chgData name="Guest User" userId="S::urn:spo:tenantanon#2dceae9c-a7e4-44ca-93fc-e091c9984b81::" providerId="AD" clId="Web-{245093F0-BC8E-F534-198F-ED00B6277618}" dt="2026-06-03T15:29:27.727" v="10" actId="20577"/>
        <pc:sldMkLst>
          <pc:docMk/>
          <pc:sldMk cId="0" sldId="258"/>
        </pc:sldMkLst>
        <pc:spChg chg="mod">
          <ac:chgData name="Guest User" userId="S::urn:spo:tenantanon#2dceae9c-a7e4-44ca-93fc-e091c9984b81::" providerId="AD" clId="Web-{245093F0-BC8E-F534-198F-ED00B6277618}" dt="2026-06-03T15:28:53.274" v="3" actId="20577"/>
          <ac:spMkLst>
            <pc:docMk/>
            <pc:sldMk cId="0" sldId="258"/>
            <ac:spMk id="36" creationId="{00000000-0000-0000-0000-000000000000}"/>
          </ac:spMkLst>
        </pc:spChg>
        <pc:spChg chg="mod">
          <ac:chgData name="Guest User" userId="S::urn:spo:tenantanon#2dceae9c-a7e4-44ca-93fc-e091c9984b81::" providerId="AD" clId="Web-{245093F0-BC8E-F534-198F-ED00B6277618}" dt="2026-06-03T15:29:27.727" v="10" actId="20577"/>
          <ac:spMkLst>
            <pc:docMk/>
            <pc:sldMk cId="0" sldId="258"/>
            <ac:spMk id="40" creationId="{00000000-0000-0000-0000-000000000000}"/>
          </ac:spMkLst>
        </pc:spChg>
      </pc:sldChg>
      <pc:sldChg chg="modSp">
        <pc:chgData name="Guest User" userId="S::urn:spo:tenantanon#2dceae9c-a7e4-44ca-93fc-e091c9984b81::" providerId="AD" clId="Web-{245093F0-BC8E-F534-198F-ED00B6277618}" dt="2026-06-03T15:34:30.476" v="22" actId="14100"/>
        <pc:sldMkLst>
          <pc:docMk/>
          <pc:sldMk cId="0" sldId="259"/>
        </pc:sldMkLst>
        <pc:spChg chg="mod">
          <ac:chgData name="Guest User" userId="S::urn:spo:tenantanon#2dceae9c-a7e4-44ca-93fc-e091c9984b81::" providerId="AD" clId="Web-{245093F0-BC8E-F534-198F-ED00B6277618}" dt="2026-06-03T15:34:17.351" v="14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Guest User" userId="S::urn:spo:tenantanon#2dceae9c-a7e4-44ca-93fc-e091c9984b81::" providerId="AD" clId="Web-{245093F0-BC8E-F534-198F-ED00B6277618}" dt="2026-06-03T15:34:30.476" v="22" actId="14100"/>
          <ac:spMkLst>
            <pc:docMk/>
            <pc:sldMk cId="0" sldId="259"/>
            <ac:spMk id="25" creationId="{00000000-0000-0000-0000-000000000000}"/>
          </ac:spMkLst>
        </pc:spChg>
        <pc:spChg chg="mod">
          <ac:chgData name="Guest User" userId="S::urn:spo:tenantanon#2dceae9c-a7e4-44ca-93fc-e091c9984b81::" providerId="AD" clId="Web-{245093F0-BC8E-F534-198F-ED00B6277618}" dt="2026-06-03T15:34:28.898" v="21" actId="14100"/>
          <ac:spMkLst>
            <pc:docMk/>
            <pc:sldMk cId="0" sldId="259"/>
            <ac:spMk id="38" creationId="{00000000-0000-0000-0000-000000000000}"/>
          </ac:spMkLst>
        </pc:spChg>
        <pc:spChg chg="mod">
          <ac:chgData name="Guest User" userId="S::urn:spo:tenantanon#2dceae9c-a7e4-44ca-93fc-e091c9984b81::" providerId="AD" clId="Web-{245093F0-BC8E-F534-198F-ED00B6277618}" dt="2026-06-03T15:34:27.241" v="20" actId="14100"/>
          <ac:spMkLst>
            <pc:docMk/>
            <pc:sldMk cId="0" sldId="259"/>
            <ac:spMk id="5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192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3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3.jpe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6.sv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12.png"/><Relationship Id="rId3" Type="http://schemas.openxmlformats.org/officeDocument/2006/relationships/image" Target="../media/image3.jpeg"/><Relationship Id="rId7" Type="http://schemas.openxmlformats.org/officeDocument/2006/relationships/image" Target="../media/image16.sv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31.svg"/><Relationship Id="rId5" Type="http://schemas.openxmlformats.org/officeDocument/2006/relationships/image" Target="../media/image13.svg"/><Relationship Id="rId10" Type="http://schemas.openxmlformats.org/officeDocument/2006/relationships/image" Target="../media/image30.svg"/><Relationship Id="rId4" Type="http://schemas.openxmlformats.org/officeDocument/2006/relationships/image" Target="../media/image23.svg"/><Relationship Id="rId9" Type="http://schemas.openxmlformats.org/officeDocument/2006/relationships/image" Target="../media/image2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friendly-dirac/mnt/outputs/bami_cover_bg.jpe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>
              <a:alpha val="65000"/>
            </a:srgbClr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822960" y="868680"/>
            <a:ext cx="1280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600" dirty="0">
                <a:solidFill>
                  <a:srgbClr val="B7E9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May 2026   |   Sales proposal — Saipem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84048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400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BAMI AGENT FACTORY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1664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Guided agent building in your Copilot tenant.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22960" y="6355080"/>
            <a:ext cx="1417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900">
                <a:solidFill>
                  <a:srgbClr val="F7F6F2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An agile service that takes an agent idea from intake to deployment. Four </a:t>
            </a:r>
            <a:r>
              <a:rPr lang="en-US" sz="1900" dirty="0">
                <a:solidFill>
                  <a:srgbClr val="F7F6F2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complexity tiers, one Quick Proposal for every request.</a:t>
            </a:r>
            <a:endParaRPr lang="en-US" sz="1900" dirty="0">
              <a:latin typeface="Montserrat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22960" y="8778240"/>
            <a:ext cx="2697480" cy="6400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822960" y="87782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566160" y="9098280"/>
            <a:ext cx="228600" cy="0"/>
          </a:xfrm>
          <a:prstGeom prst="line">
            <a:avLst/>
          </a:prstGeom>
          <a:noFill/>
          <a:ln w="1905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3840480" y="8778240"/>
            <a:ext cx="2697480" cy="6400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3840480" y="87782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83680" y="9098280"/>
            <a:ext cx="228600" cy="0"/>
          </a:xfrm>
          <a:prstGeom prst="line">
            <a:avLst/>
          </a:prstGeom>
          <a:noFill/>
          <a:ln w="1905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6858000" y="8778240"/>
            <a:ext cx="2697480" cy="6400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6858000" y="87782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0–3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601200" y="9098280"/>
            <a:ext cx="228600" cy="0"/>
          </a:xfrm>
          <a:prstGeom prst="line">
            <a:avLst/>
          </a:prstGeom>
          <a:noFill/>
          <a:ln w="1905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9875520" y="8778240"/>
            <a:ext cx="2697480" cy="6400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9875520" y="87782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Proposal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2618720" y="9098280"/>
            <a:ext cx="228600" cy="0"/>
          </a:xfrm>
          <a:prstGeom prst="line">
            <a:avLst/>
          </a:prstGeom>
          <a:noFill/>
          <a:ln w="1905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12893040" y="8778240"/>
            <a:ext cx="2697480" cy="6400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12893040" y="87782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22960" y="9738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400" dirty="0">
                <a:solidFill>
                  <a:srgbClr val="B7E9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DELIVERING VALUE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144000" y="9738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Proprietary &amp; Confidential</a:t>
            </a:r>
            <a:endParaRPr lang="en-US" sz="1100" dirty="0"/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91F16948-B949-DB64-8D45-518435DD7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9000" y="162191"/>
            <a:ext cx="1887922" cy="9325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friendly-dirac/mnt/outputs/bami_img1.jpe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63840" cy="8686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48640" y="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&amp; proposal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9857232"/>
            <a:ext cx="17190720" cy="0"/>
          </a:xfrm>
          <a:prstGeom prst="line">
            <a:avLst/>
          </a:prstGeom>
          <a:noFill/>
          <a:ln w="9525">
            <a:solidFill>
              <a:srgbClr val="D9D7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48640" y="9921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DELIVERING VALUE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509760" y="9921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Proprietary &amp;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097280"/>
            <a:ext cx="1719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400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CONTEXT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417320"/>
            <a:ext cx="1719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Copilot is already in your tenant. Agent ideas come from every department.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48640" y="2103120"/>
            <a:ext cx="1719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missing is an agile way to assess them, classify them, and ship them.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274320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1"/>
            </a:solidFill>
            <a:prstDash val="solid"/>
          </a:ln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548640" y="2743200"/>
            <a:ext cx="5486400" cy="64008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0896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37360" y="3108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Scattered ideas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914400" y="3840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Dozens of agent proposals across email, Teams and brainstorms. No unified intake, no shortlist.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00800" y="274320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1"/>
            </a:solidFill>
            <a:prstDash val="solid"/>
          </a:ln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6400800" y="2743200"/>
            <a:ext cx="5486400" cy="64008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6560" y="310896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589520" y="3108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Shadow agents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766560" y="3840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Parallel builds with no standards, no data governance. Compliance risk, duplication, hidden costs.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12252960" y="274320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1"/>
            </a:solidFill>
            <a:prstDash val="solid"/>
          </a:ln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12252960" y="2743200"/>
            <a:ext cx="5486400" cy="64008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18720" y="3108960"/>
            <a:ext cx="640080" cy="6400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441680" y="3108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Everything looks like Tier 0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12618720" y="3840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Without a formal assessment, every idea is reduced to “Copilot Studio is enough.” Real complexity surfaces mid-build.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48640" y="5212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400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PROPOSAL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5532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kern="0" spc="-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BAMI Agent Factory</a:t>
            </a:r>
            <a:endParaRPr lang="en-US" sz="3800" dirty="0"/>
          </a:p>
        </p:txBody>
      </p:sp>
      <p:sp>
        <p:nvSpPr>
          <p:cNvPr id="29" name="Text 23"/>
          <p:cNvSpPr/>
          <p:nvPr/>
        </p:nvSpPr>
        <p:spPr>
          <a:xfrm>
            <a:off x="548640" y="6492240"/>
            <a:ext cx="1719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 in, agent out — through a predictable, agile path.</a:t>
            </a:r>
            <a:endParaRPr lang="en-US" sz="1700" dirty="0"/>
          </a:p>
        </p:txBody>
      </p:sp>
      <p:sp>
        <p:nvSpPr>
          <p:cNvPr id="30" name="Shape 24"/>
          <p:cNvSpPr/>
          <p:nvPr/>
        </p:nvSpPr>
        <p:spPr>
          <a:xfrm>
            <a:off x="640080" y="7178040"/>
            <a:ext cx="5486400" cy="9601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5"/>
          <p:cNvSpPr/>
          <p:nvPr/>
        </p:nvSpPr>
        <p:spPr>
          <a:xfrm>
            <a:off x="640080" y="7178040"/>
            <a:ext cx="91440" cy="960120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7406640"/>
            <a:ext cx="502920" cy="5029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554480" y="717804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backbone, different tiers.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6400800" y="7178040"/>
            <a:ext cx="5486400" cy="9601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28"/>
          <p:cNvSpPr/>
          <p:nvPr/>
        </p:nvSpPr>
        <p:spPr>
          <a:xfrm>
            <a:off x="6400800" y="7178040"/>
            <a:ext cx="91440" cy="960120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5120" y="7406640"/>
            <a:ext cx="502920" cy="5029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315200" y="717804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the tools already in your tenant.</a:t>
            </a:r>
            <a:endParaRPr lang="en-US" sz="1400" dirty="0"/>
          </a:p>
        </p:txBody>
      </p:sp>
      <p:sp>
        <p:nvSpPr>
          <p:cNvPr id="38" name="Shape 30"/>
          <p:cNvSpPr/>
          <p:nvPr/>
        </p:nvSpPr>
        <p:spPr>
          <a:xfrm>
            <a:off x="12161520" y="7178040"/>
            <a:ext cx="5486400" cy="9601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1"/>
          <p:cNvSpPr/>
          <p:nvPr/>
        </p:nvSpPr>
        <p:spPr>
          <a:xfrm>
            <a:off x="12161520" y="7178040"/>
            <a:ext cx="91440" cy="960120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435840" y="7406640"/>
            <a:ext cx="502920" cy="5029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3075920" y="717804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Intake &amp; assessment semi-automated.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640080" y="8275320"/>
            <a:ext cx="5486400" cy="9601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34"/>
          <p:cNvSpPr/>
          <p:nvPr/>
        </p:nvSpPr>
        <p:spPr>
          <a:xfrm>
            <a:off x="640080" y="8275320"/>
            <a:ext cx="91440" cy="960120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" y="8503920"/>
            <a:ext cx="502920" cy="50292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1554480" y="82753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output: scope, team, roadmap.</a:t>
            </a:r>
            <a:endParaRPr lang="en-US" sz="1400" dirty="0"/>
          </a:p>
        </p:txBody>
      </p:sp>
      <p:sp>
        <p:nvSpPr>
          <p:cNvPr id="46" name="Shape 36"/>
          <p:cNvSpPr/>
          <p:nvPr/>
        </p:nvSpPr>
        <p:spPr>
          <a:xfrm>
            <a:off x="6400800" y="8275320"/>
            <a:ext cx="5486400" cy="9601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Shape 37"/>
          <p:cNvSpPr/>
          <p:nvPr/>
        </p:nvSpPr>
        <p:spPr>
          <a:xfrm>
            <a:off x="6400800" y="8275320"/>
            <a:ext cx="91440" cy="960120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5120" y="8503920"/>
            <a:ext cx="502920" cy="50292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7315200" y="82753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Native governance &amp; decision log.</a:t>
            </a:r>
            <a:endParaRPr lang="en-US" sz="1400" dirty="0"/>
          </a:p>
        </p:txBody>
      </p:sp>
      <p:sp>
        <p:nvSpPr>
          <p:cNvPr id="50" name="Shape 39"/>
          <p:cNvSpPr/>
          <p:nvPr/>
        </p:nvSpPr>
        <p:spPr>
          <a:xfrm>
            <a:off x="12161520" y="8275320"/>
            <a:ext cx="5486400" cy="9601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Shape 40"/>
          <p:cNvSpPr/>
          <p:nvPr/>
        </p:nvSpPr>
        <p:spPr>
          <a:xfrm>
            <a:off x="12161520" y="8275320"/>
            <a:ext cx="91440" cy="960120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435840" y="8503920"/>
            <a:ext cx="502920" cy="50292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13075920" y="82753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to scale into a portfolio of agents.</a:t>
            </a:r>
            <a:endParaRPr lang="en-US" sz="1400" dirty="0"/>
          </a:p>
        </p:txBody>
      </p:sp>
      <p:sp>
        <p:nvSpPr>
          <p:cNvPr id="54" name="Text 42"/>
          <p:cNvSpPr/>
          <p:nvPr/>
        </p:nvSpPr>
        <p:spPr>
          <a:xfrm>
            <a:off x="548640" y="9326880"/>
            <a:ext cx="1719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a blank page to an agent in production — through a predictable, agile path.</a:t>
            </a:r>
            <a:endParaRPr lang="en-US" sz="1300" dirty="0"/>
          </a:p>
        </p:txBody>
      </p:sp>
      <p:pic>
        <p:nvPicPr>
          <p:cNvPr id="57" name="Immagine 56">
            <a:extLst>
              <a:ext uri="{FF2B5EF4-FFF2-40B4-BE49-F238E27FC236}">
                <a16:creationId xmlns:a16="http://schemas.microsoft.com/office/drawing/2014/main" id="{BDF06202-AF80-A7C9-BFFE-D894B3E0D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358790" y="315088"/>
            <a:ext cx="1380570" cy="6313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friendly-dirac/mnt/outputs/bami_img1.jpe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63840" cy="8686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48640" y="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end-to-end process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9857232"/>
            <a:ext cx="17190720" cy="0"/>
          </a:xfrm>
          <a:prstGeom prst="line">
            <a:avLst/>
          </a:prstGeom>
          <a:noFill/>
          <a:ln w="9525">
            <a:solidFill>
              <a:srgbClr val="D9D7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48640" y="9921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DELIVERING VALUE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509760" y="9921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Proprietary &amp;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280160"/>
            <a:ext cx="1719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steps. The same journey for every request, regardless of the final tier.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54964" y="3474720"/>
            <a:ext cx="16578072" cy="0"/>
          </a:xfrm>
          <a:prstGeom prst="line">
            <a:avLst/>
          </a:prstGeom>
          <a:noFill/>
          <a:ln w="19050">
            <a:solidFill>
              <a:srgbClr val="1FB8B8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1517904" y="3017520"/>
            <a:ext cx="914400" cy="914400"/>
          </a:xfrm>
          <a:prstGeom prst="ellipse">
            <a:avLst/>
          </a:prstGeom>
          <a:solidFill>
            <a:srgbClr val="1FB8B8"/>
          </a:solidFill>
          <a:ln w="50800">
            <a:solidFill>
              <a:srgbClr val="F7F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9072" y="3200400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6324" y="2194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306324" y="4114800"/>
            <a:ext cx="33375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534924" y="4343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 Intake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34924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Saipem requester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34924" y="5303520"/>
            <a:ext cx="1280160" cy="320040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4"/>
          <p:cNvSpPr/>
          <p:nvPr/>
        </p:nvSpPr>
        <p:spPr>
          <a:xfrm>
            <a:off x="534924" y="5303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34924" y="5806440"/>
            <a:ext cx="2880360" cy="0"/>
          </a:xfrm>
          <a:prstGeom prst="line">
            <a:avLst/>
          </a:prstGeom>
          <a:noFill/>
          <a:ln w="9525">
            <a:solidFill>
              <a:srgbClr val="D9D7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6"/>
          <p:cNvSpPr/>
          <p:nvPr/>
        </p:nvSpPr>
        <p:spPr>
          <a:xfrm>
            <a:off x="534924" y="5943600"/>
            <a:ext cx="2880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Lightweight form (problem, users, data, examples). Bami runs initial classification and ticket enrichment automatically.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102352" y="3017520"/>
            <a:ext cx="914400" cy="914400"/>
          </a:xfrm>
          <a:prstGeom prst="ellipse">
            <a:avLst/>
          </a:prstGeom>
          <a:solidFill>
            <a:srgbClr val="1FB8B8"/>
          </a:solidFill>
          <a:ln w="50800">
            <a:solidFill>
              <a:srgbClr val="F7F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3520" y="3200400"/>
            <a:ext cx="512064" cy="5120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90772" y="2194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3890772" y="4114800"/>
            <a:ext cx="33375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Text 20"/>
          <p:cNvSpPr/>
          <p:nvPr/>
        </p:nvSpPr>
        <p:spPr>
          <a:xfrm>
            <a:off x="4119372" y="4343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4119372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BAMI Agent Squad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119372" y="5303520"/>
            <a:ext cx="1280160" cy="32004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3"/>
          <p:cNvSpPr/>
          <p:nvPr/>
        </p:nvSpPr>
        <p:spPr>
          <a:xfrm>
            <a:off x="4119372" y="5303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SEMI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119372" y="5806440"/>
            <a:ext cx="2880360" cy="0"/>
          </a:xfrm>
          <a:prstGeom prst="line">
            <a:avLst/>
          </a:prstGeom>
          <a:noFill/>
          <a:ln w="9525">
            <a:solidFill>
              <a:srgbClr val="D9D7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5"/>
          <p:cNvSpPr/>
          <p:nvPr/>
        </p:nvSpPr>
        <p:spPr>
          <a:xfrm>
            <a:off x="4119372" y="5943600"/>
            <a:ext cx="2880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assessment across 5 dimensions: intent, data, integrations, usage modes, governance. Score + candidate tier + gap analysis.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8686800" y="3017520"/>
            <a:ext cx="914400" cy="914400"/>
          </a:xfrm>
          <a:prstGeom prst="ellipse">
            <a:avLst/>
          </a:prstGeom>
          <a:solidFill>
            <a:srgbClr val="1FB8B8"/>
          </a:solidFill>
          <a:ln w="50800">
            <a:solidFill>
              <a:srgbClr val="F7F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7968" y="3200400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75220" y="2194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00" dirty="0"/>
          </a:p>
        </p:txBody>
      </p:sp>
      <p:sp>
        <p:nvSpPr>
          <p:cNvPr id="34" name="Shape 28"/>
          <p:cNvSpPr/>
          <p:nvPr/>
        </p:nvSpPr>
        <p:spPr>
          <a:xfrm>
            <a:off x="7475220" y="4114800"/>
            <a:ext cx="33375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9"/>
          <p:cNvSpPr/>
          <p:nvPr/>
        </p:nvSpPr>
        <p:spPr>
          <a:xfrm>
            <a:off x="7703820" y="4343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Classification</a:t>
            </a:r>
            <a:endParaRPr lang="en-US" sz="1700" dirty="0"/>
          </a:p>
        </p:txBody>
      </p:sp>
      <p:sp>
        <p:nvSpPr>
          <p:cNvPr id="36" name="Text 30"/>
          <p:cNvSpPr/>
          <p:nvPr/>
        </p:nvSpPr>
        <p:spPr>
          <a:xfrm>
            <a:off x="7703820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8A8A86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BAMI + BO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7703820" y="5303520"/>
            <a:ext cx="1280160" cy="320040"/>
          </a:xfrm>
          <a:prstGeom prst="rect">
            <a:avLst/>
          </a:prstGeom>
          <a:solidFill>
            <a:srgbClr val="8A8A86"/>
          </a:solidFill>
          <a:ln w="12700">
            <a:solidFill>
              <a:srgbClr val="8A8A8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2"/>
          <p:cNvSpPr/>
          <p:nvPr/>
        </p:nvSpPr>
        <p:spPr>
          <a:xfrm>
            <a:off x="7703820" y="5303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JOINT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7703820" y="5806440"/>
            <a:ext cx="2880360" cy="0"/>
          </a:xfrm>
          <a:prstGeom prst="line">
            <a:avLst/>
          </a:prstGeom>
          <a:noFill/>
          <a:ln w="9525">
            <a:solidFill>
              <a:srgbClr val="D9D7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4"/>
          <p:cNvSpPr/>
          <p:nvPr/>
        </p:nvSpPr>
        <p:spPr>
          <a:xfrm>
            <a:off x="7703820" y="5943600"/>
            <a:ext cx="2880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2B2B2B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Tier 0 / 1 / 2 / 3. Locks the stack, the squad, the timeline and the deliverables. Quick alignment session between Bami and the Saipem BO .</a:t>
            </a:r>
            <a:endParaRPr lang="en-US" sz="1200" dirty="0">
              <a:latin typeface="Montserrat"/>
            </a:endParaRPr>
          </a:p>
        </p:txBody>
      </p:sp>
      <p:sp>
        <p:nvSpPr>
          <p:cNvPr id="41" name="Shape 35"/>
          <p:cNvSpPr/>
          <p:nvPr/>
        </p:nvSpPr>
        <p:spPr>
          <a:xfrm>
            <a:off x="12271248" y="3017520"/>
            <a:ext cx="914400" cy="914400"/>
          </a:xfrm>
          <a:prstGeom prst="ellipse">
            <a:avLst/>
          </a:prstGeom>
          <a:solidFill>
            <a:srgbClr val="1FB8B8"/>
          </a:solidFill>
          <a:ln w="50800">
            <a:solidFill>
              <a:srgbClr val="F7F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72416" y="3200400"/>
            <a:ext cx="512064" cy="51206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1059668" y="2194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400" dirty="0"/>
          </a:p>
        </p:txBody>
      </p:sp>
      <p:sp>
        <p:nvSpPr>
          <p:cNvPr id="44" name="Shape 37"/>
          <p:cNvSpPr/>
          <p:nvPr/>
        </p:nvSpPr>
        <p:spPr>
          <a:xfrm>
            <a:off x="11059668" y="4114800"/>
            <a:ext cx="33375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5" name="Text 38"/>
          <p:cNvSpPr/>
          <p:nvPr/>
        </p:nvSpPr>
        <p:spPr>
          <a:xfrm>
            <a:off x="11288268" y="4343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Proposal</a:t>
            </a:r>
            <a:endParaRPr lang="en-US" sz="1700" dirty="0"/>
          </a:p>
        </p:txBody>
      </p:sp>
      <p:sp>
        <p:nvSpPr>
          <p:cNvPr id="46" name="Text 39"/>
          <p:cNvSpPr/>
          <p:nvPr/>
        </p:nvSpPr>
        <p:spPr>
          <a:xfrm>
            <a:off x="11288268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BAMI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11288268" y="5303520"/>
            <a:ext cx="1280160" cy="320040"/>
          </a:xfrm>
          <a:prstGeom prst="rect">
            <a:avLst/>
          </a:prstGeom>
          <a:solidFill>
            <a:srgbClr val="8A8A86"/>
          </a:solidFill>
          <a:ln w="12700">
            <a:solidFill>
              <a:srgbClr val="8A8A8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1"/>
          <p:cNvSpPr/>
          <p:nvPr/>
        </p:nvSpPr>
        <p:spPr>
          <a:xfrm>
            <a:off x="11288268" y="5303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11288268" y="5806440"/>
            <a:ext cx="2880360" cy="0"/>
          </a:xfrm>
          <a:prstGeom prst="line">
            <a:avLst/>
          </a:prstGeom>
          <a:noFill/>
          <a:ln w="9525">
            <a:solidFill>
              <a:srgbClr val="D9D7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3"/>
          <p:cNvSpPr/>
          <p:nvPr/>
        </p:nvSpPr>
        <p:spPr>
          <a:xfrm>
            <a:off x="11288268" y="5943600"/>
            <a:ext cx="2880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Lightweight, agile spec for the tier: scope, deliverables, team, milestone roadmap and acceptance criteria. Ready to start in days.</a:t>
            </a:r>
            <a:endParaRPr lang="en-US" sz="1200" dirty="0"/>
          </a:p>
        </p:txBody>
      </p:sp>
      <p:sp>
        <p:nvSpPr>
          <p:cNvPr id="51" name="Shape 44"/>
          <p:cNvSpPr/>
          <p:nvPr/>
        </p:nvSpPr>
        <p:spPr>
          <a:xfrm>
            <a:off x="15855696" y="3017520"/>
            <a:ext cx="914400" cy="914400"/>
          </a:xfrm>
          <a:prstGeom prst="ellipse">
            <a:avLst/>
          </a:prstGeom>
          <a:solidFill>
            <a:srgbClr val="1FB8B8"/>
          </a:solidFill>
          <a:ln w="50800">
            <a:solidFill>
              <a:srgbClr val="F7F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056864" y="3200400"/>
            <a:ext cx="512064" cy="512064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14644116" y="2194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400" dirty="0"/>
          </a:p>
        </p:txBody>
      </p:sp>
      <p:sp>
        <p:nvSpPr>
          <p:cNvPr id="54" name="Shape 46"/>
          <p:cNvSpPr/>
          <p:nvPr/>
        </p:nvSpPr>
        <p:spPr>
          <a:xfrm>
            <a:off x="14644116" y="4114800"/>
            <a:ext cx="33375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5" name="Text 47"/>
          <p:cNvSpPr/>
          <p:nvPr/>
        </p:nvSpPr>
        <p:spPr>
          <a:xfrm>
            <a:off x="14872716" y="4343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&amp; Hand-off</a:t>
            </a:r>
            <a:endParaRPr lang="en-US" sz="1700" dirty="0"/>
          </a:p>
        </p:txBody>
      </p:sp>
      <p:sp>
        <p:nvSpPr>
          <p:cNvPr id="56" name="Text 48"/>
          <p:cNvSpPr/>
          <p:nvPr/>
        </p:nvSpPr>
        <p:spPr>
          <a:xfrm>
            <a:off x="14872716" y="4846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BAMI Build squad</a:t>
            </a:r>
            <a:endParaRPr lang="en-US" sz="1100" dirty="0"/>
          </a:p>
        </p:txBody>
      </p:sp>
      <p:sp>
        <p:nvSpPr>
          <p:cNvPr id="57" name="Shape 49"/>
          <p:cNvSpPr/>
          <p:nvPr/>
        </p:nvSpPr>
        <p:spPr>
          <a:xfrm>
            <a:off x="14872716" y="5303520"/>
            <a:ext cx="1280160" cy="320040"/>
          </a:xfrm>
          <a:prstGeom prst="rect">
            <a:avLst/>
          </a:prstGeom>
          <a:solidFill>
            <a:srgbClr val="8A8A86"/>
          </a:solidFill>
          <a:ln w="12700">
            <a:solidFill>
              <a:srgbClr val="8A8A8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0"/>
          <p:cNvSpPr/>
          <p:nvPr/>
        </p:nvSpPr>
        <p:spPr>
          <a:xfrm>
            <a:off x="14872716" y="5303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</a:t>
            </a:r>
            <a:endParaRPr lang="en-US" sz="1000" dirty="0"/>
          </a:p>
        </p:txBody>
      </p:sp>
      <p:sp>
        <p:nvSpPr>
          <p:cNvPr id="59" name="Shape 51"/>
          <p:cNvSpPr/>
          <p:nvPr/>
        </p:nvSpPr>
        <p:spPr>
          <a:xfrm>
            <a:off x="14872716" y="5806440"/>
            <a:ext cx="2880360" cy="0"/>
          </a:xfrm>
          <a:prstGeom prst="line">
            <a:avLst/>
          </a:prstGeom>
          <a:noFill/>
          <a:ln w="9525">
            <a:solidFill>
              <a:srgbClr val="D9D7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52"/>
          <p:cNvSpPr/>
          <p:nvPr/>
        </p:nvSpPr>
        <p:spPr>
          <a:xfrm>
            <a:off x="14872716" y="5943600"/>
            <a:ext cx="2880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in the tenant, UAT with users, deployment, documentation and training. Hand-off to a Saipem owner, initial hypercare.</a:t>
            </a:r>
            <a:endParaRPr lang="en-US" sz="1200" dirty="0"/>
          </a:p>
        </p:txBody>
      </p:sp>
      <p:sp>
        <p:nvSpPr>
          <p:cNvPr id="61" name="Text 53"/>
          <p:cNvSpPr/>
          <p:nvPr/>
        </p:nvSpPr>
        <p:spPr>
          <a:xfrm>
            <a:off x="548640" y="9326880"/>
            <a:ext cx="1719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 </a:t>
            </a:r>
            <a:r>
              <a:rPr lang="en-US" sz="11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Bami automation    </a:t>
            </a:r>
            <a:r>
              <a:rPr lang="en-US" sz="1100" b="1" kern="0" spc="400" dirty="0">
                <a:solidFill>
                  <a:srgbClr val="0E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SEMI </a:t>
            </a:r>
            <a:r>
              <a:rPr lang="en-US" sz="11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 + review    </a:t>
            </a:r>
            <a:r>
              <a:rPr lang="en-US" sz="1100" b="1" kern="0" spc="400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JOINT </a:t>
            </a:r>
            <a:r>
              <a:rPr lang="en-US" sz="11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Bami + Saipem Sponsor    </a:t>
            </a:r>
            <a:r>
              <a:rPr lang="en-US" sz="1100" b="1" kern="0" spc="400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</a:t>
            </a:r>
            <a:r>
              <a:rPr lang="en-US" sz="11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Bami delivery</a:t>
            </a:r>
            <a:endParaRPr lang="en-US" sz="1100" dirty="0"/>
          </a:p>
        </p:txBody>
      </p:sp>
      <p:pic>
        <p:nvPicPr>
          <p:cNvPr id="62" name="Immagine 61">
            <a:extLst>
              <a:ext uri="{FF2B5EF4-FFF2-40B4-BE49-F238E27FC236}">
                <a16:creationId xmlns:a16="http://schemas.microsoft.com/office/drawing/2014/main" id="{C12109EF-E5DA-8D96-E594-8437E7BEB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58790" y="315088"/>
            <a:ext cx="1380570" cy="6313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friendly-dirac/mnt/outputs/bami_img1.jpe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63840" cy="8686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48640" y="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four agent tiers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9857232"/>
            <a:ext cx="17190720" cy="0"/>
          </a:xfrm>
          <a:prstGeom prst="line">
            <a:avLst/>
          </a:prstGeom>
          <a:noFill/>
          <a:ln w="9525">
            <a:solidFill>
              <a:srgbClr val="D9D7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48640" y="9921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DELIVERING VALUE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509760" y="9921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Proprietary &amp;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280160"/>
            <a:ext cx="1719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Classification drives stack, team and timeline. Same care, different complexity.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61188" y="2103120"/>
            <a:ext cx="4206240" cy="7040880"/>
          </a:xfrm>
          <a:prstGeom prst="rect">
            <a:avLst/>
          </a:prstGeom>
          <a:solidFill>
            <a:srgbClr val="FFFFFF"/>
          </a:solidFill>
          <a:ln w="9525">
            <a:solidFill>
              <a:srgbClr val="5BD2C7"/>
            </a:solidFill>
            <a:prstDash val="solid"/>
          </a:ln>
          <a:effectLst>
            <a:outerShdw blurRad="1778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361188" y="2103120"/>
            <a:ext cx="4206240" cy="164592"/>
          </a:xfrm>
          <a:prstGeom prst="rect">
            <a:avLst/>
          </a:prstGeom>
          <a:solidFill>
            <a:srgbClr val="5BD2C7"/>
          </a:solidFill>
          <a:ln w="12700">
            <a:solidFill>
              <a:srgbClr val="5BD2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726948" y="2468880"/>
            <a:ext cx="1844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>
                <a:solidFill>
                  <a:srgbClr val="5BD2C7"/>
                </a:solidFill>
                <a:latin typeface="Montserrat"/>
              </a:rPr>
              <a:t>Tier 0</a:t>
            </a:r>
            <a:endParaRPr lang="en-US" sz="4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5868" y="2606040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" y="3337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 Agent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726948" y="3931920"/>
            <a:ext cx="3474720" cy="0"/>
          </a:xfrm>
          <a:prstGeom prst="line">
            <a:avLst/>
          </a:prstGeom>
          <a:noFill/>
          <a:ln w="9525">
            <a:solidFill>
              <a:srgbClr val="D9D7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2"/>
          <p:cNvSpPr/>
          <p:nvPr/>
        </p:nvSpPr>
        <p:spPr>
          <a:xfrm>
            <a:off x="726948" y="40690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Out-of-the-box agent built in Copilot Studio.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26948" y="5303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0" dirty="0">
                <a:solidFill>
                  <a:srgbClr val="5BD2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STACK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26948" y="562356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M365 Copilot standard (Word / Outlook / Teams)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Copilot Studio (intents + topics)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 conversational flow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26948" y="7452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0" dirty="0">
                <a:solidFill>
                  <a:srgbClr val="5BD2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TO USE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26948" y="77724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/ manual Q&amp;A, guided FAQ, request triage, knowledge already in-tenant.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26948" y="8549640"/>
            <a:ext cx="3474720" cy="365760"/>
          </a:xfrm>
          <a:prstGeom prst="rect">
            <a:avLst/>
          </a:prstGeom>
          <a:solidFill>
            <a:srgbClr val="5BD2C7">
              <a:alpha val="15000"/>
            </a:srgbClr>
          </a:solidFill>
          <a:ln w="12700">
            <a:solidFill>
              <a:srgbClr val="5BD2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8"/>
          <p:cNvSpPr/>
          <p:nvPr/>
        </p:nvSpPr>
        <p:spPr>
          <a:xfrm>
            <a:off x="726948" y="8549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D2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1–2 weeks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814316" y="2103120"/>
            <a:ext cx="4206240" cy="7040880"/>
          </a:xfrm>
          <a:prstGeom prst="rect">
            <a:avLst/>
          </a:prstGeom>
          <a:solidFill>
            <a:srgbClr val="FFFFFF"/>
          </a:solidFill>
          <a:ln w="9525">
            <a:solidFill>
              <a:srgbClr val="1FB8B8"/>
            </a:solidFill>
            <a:prstDash val="solid"/>
          </a:ln>
          <a:effectLst>
            <a:outerShdw blurRad="1778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0"/>
          <p:cNvSpPr/>
          <p:nvPr/>
        </p:nvSpPr>
        <p:spPr>
          <a:xfrm>
            <a:off x="4814316" y="2103120"/>
            <a:ext cx="4206240" cy="164592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1"/>
          <p:cNvSpPr/>
          <p:nvPr/>
        </p:nvSpPr>
        <p:spPr>
          <a:xfrm>
            <a:off x="5180076" y="24688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>
                <a:solidFill>
                  <a:srgbClr val="1FB8B8"/>
                </a:solidFill>
                <a:latin typeface="Montserrat"/>
              </a:rPr>
              <a:t>Tier 1</a:t>
            </a:r>
            <a:endParaRPr lang="en-US" sz="40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8996" y="2606040"/>
            <a:ext cx="685800" cy="6858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180076" y="3337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Skills &amp; Integrations</a:t>
            </a:r>
            <a:endParaRPr lang="en-US" sz="1900" dirty="0"/>
          </a:p>
        </p:txBody>
      </p:sp>
      <p:sp>
        <p:nvSpPr>
          <p:cNvPr id="28" name="Shape 23"/>
          <p:cNvSpPr/>
          <p:nvPr/>
        </p:nvSpPr>
        <p:spPr>
          <a:xfrm>
            <a:off x="5180076" y="3931920"/>
            <a:ext cx="3474720" cy="0"/>
          </a:xfrm>
          <a:prstGeom prst="line">
            <a:avLst/>
          </a:prstGeom>
          <a:noFill/>
          <a:ln w="9525">
            <a:solidFill>
              <a:srgbClr val="D9D7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4"/>
          <p:cNvSpPr/>
          <p:nvPr/>
        </p:nvSpPr>
        <p:spPr>
          <a:xfrm>
            <a:off x="5180076" y="40690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with custom skills, dedicated integrations and structured prompt engineering.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5180076" y="5303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0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STACK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180076" y="562356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Copilot Studio + custom plugins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Automate orchestration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APIs to Saipem systems + prompt library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5180076" y="7452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0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TO USE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5180076" y="77724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Vendor / asset lookup, document generation, light approval orchestration, multi-tool workflows.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5180076" y="8549640"/>
            <a:ext cx="3474720" cy="365760"/>
          </a:xfrm>
          <a:prstGeom prst="rect">
            <a:avLst/>
          </a:prstGeom>
          <a:solidFill>
            <a:srgbClr val="1FB8B8">
              <a:alpha val="15000"/>
            </a:srgbClr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0"/>
          <p:cNvSpPr/>
          <p:nvPr/>
        </p:nvSpPr>
        <p:spPr>
          <a:xfrm>
            <a:off x="5180076" y="8549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2–4 weeks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9267444" y="2103120"/>
            <a:ext cx="4206240" cy="7040880"/>
          </a:xfrm>
          <a:prstGeom prst="rect">
            <a:avLst/>
          </a:prstGeom>
          <a:solidFill>
            <a:srgbClr val="FFFFFF"/>
          </a:solidFill>
          <a:ln w="9525">
            <a:solidFill>
              <a:srgbClr val="0E7A7A"/>
            </a:solidFill>
            <a:prstDash val="solid"/>
          </a:ln>
          <a:effectLst>
            <a:outerShdw blurRad="1778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7" name="Shape 32"/>
          <p:cNvSpPr/>
          <p:nvPr/>
        </p:nvSpPr>
        <p:spPr>
          <a:xfrm>
            <a:off x="9267444" y="2103120"/>
            <a:ext cx="4206240" cy="164592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3"/>
          <p:cNvSpPr/>
          <p:nvPr/>
        </p:nvSpPr>
        <p:spPr>
          <a:xfrm>
            <a:off x="9633204" y="24688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>
                <a:solidFill>
                  <a:srgbClr val="0E7A7A"/>
                </a:solidFill>
                <a:latin typeface="Montserrat"/>
              </a:rPr>
              <a:t>Tier 2</a:t>
            </a:r>
            <a:endParaRPr lang="en-US" sz="400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22124" y="2606040"/>
            <a:ext cx="685800" cy="68580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9633204" y="3337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 Specific</a:t>
            </a:r>
            <a:endParaRPr lang="en-US" sz="1900" dirty="0"/>
          </a:p>
        </p:txBody>
      </p:sp>
      <p:sp>
        <p:nvSpPr>
          <p:cNvPr id="41" name="Shape 35"/>
          <p:cNvSpPr/>
          <p:nvPr/>
        </p:nvSpPr>
        <p:spPr>
          <a:xfrm>
            <a:off x="9633204" y="3931920"/>
            <a:ext cx="3474720" cy="0"/>
          </a:xfrm>
          <a:prstGeom prst="line">
            <a:avLst/>
          </a:prstGeom>
          <a:noFill/>
          <a:ln w="9525">
            <a:solidFill>
              <a:srgbClr val="D9D7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36"/>
          <p:cNvSpPr/>
          <p:nvPr/>
        </p:nvSpPr>
        <p:spPr>
          <a:xfrm>
            <a:off x="9633204" y="40690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1 plus custom retrieval over a well-defined Saipem corpus.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9633204" y="5303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0" dirty="0">
                <a:solidFill>
                  <a:srgbClr val="0E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STACK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9633204" y="562356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Copilot Studio + grounding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Azure AI Search / vector store indexes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Governed ingestion pipeline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9633204" y="7452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0" dirty="0">
                <a:solidFill>
                  <a:srgbClr val="0E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TO USE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9633204" y="77724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Grounding on contracts, project specs, internal regulations, structured knowledge bases.</a:t>
            </a:r>
            <a:endParaRPr lang="en-US" sz="1200" dirty="0"/>
          </a:p>
        </p:txBody>
      </p:sp>
      <p:sp>
        <p:nvSpPr>
          <p:cNvPr id="47" name="Shape 41"/>
          <p:cNvSpPr/>
          <p:nvPr/>
        </p:nvSpPr>
        <p:spPr>
          <a:xfrm>
            <a:off x="9633204" y="8549640"/>
            <a:ext cx="3474720" cy="365760"/>
          </a:xfrm>
          <a:prstGeom prst="rect">
            <a:avLst/>
          </a:prstGeom>
          <a:solidFill>
            <a:srgbClr val="0E7A7A">
              <a:alpha val="15000"/>
            </a:srgbClr>
          </a:solidFill>
          <a:ln w="12700">
            <a:solidFill>
              <a:srgbClr val="0E7A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2"/>
          <p:cNvSpPr/>
          <p:nvPr/>
        </p:nvSpPr>
        <p:spPr>
          <a:xfrm>
            <a:off x="9633204" y="8549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A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4–6 weeks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13720572" y="2103120"/>
            <a:ext cx="4206240" cy="7040880"/>
          </a:xfrm>
          <a:prstGeom prst="rect">
            <a:avLst/>
          </a:prstGeom>
          <a:solidFill>
            <a:srgbClr val="0A0A0A"/>
          </a:solidFill>
          <a:ln w="9525">
            <a:solidFill>
              <a:srgbClr val="E0A800"/>
            </a:solidFill>
            <a:prstDash val="solid"/>
          </a:ln>
          <a:effectLst>
            <a:outerShdw blurRad="1778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0" name="Shape 44"/>
          <p:cNvSpPr/>
          <p:nvPr/>
        </p:nvSpPr>
        <p:spPr>
          <a:xfrm>
            <a:off x="13720572" y="2103120"/>
            <a:ext cx="4206240" cy="164592"/>
          </a:xfrm>
          <a:prstGeom prst="rect">
            <a:avLst/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5"/>
          <p:cNvSpPr/>
          <p:nvPr/>
        </p:nvSpPr>
        <p:spPr>
          <a:xfrm>
            <a:off x="14086332" y="24688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>
                <a:solidFill>
                  <a:srgbClr val="E0A800"/>
                </a:solidFill>
                <a:latin typeface="Montserrat"/>
              </a:rPr>
              <a:t>Tier 3</a:t>
            </a:r>
            <a:endParaRPr lang="en-US" sz="4000" dirty="0"/>
          </a:p>
        </p:txBody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875252" y="2606040"/>
            <a:ext cx="685800" cy="685800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14086332" y="3337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 LLM</a:t>
            </a:r>
            <a:endParaRPr lang="en-US" sz="1900" dirty="0"/>
          </a:p>
        </p:txBody>
      </p:sp>
      <p:sp>
        <p:nvSpPr>
          <p:cNvPr id="54" name="Shape 47"/>
          <p:cNvSpPr/>
          <p:nvPr/>
        </p:nvSpPr>
        <p:spPr>
          <a:xfrm>
            <a:off x="14086332" y="3931920"/>
            <a:ext cx="347472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48"/>
          <p:cNvSpPr/>
          <p:nvPr/>
        </p:nvSpPr>
        <p:spPr>
          <a:xfrm>
            <a:off x="14086332" y="40690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F7F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Requires extra-agentic development (OCR, computer vision, vertical models) integrated downstream.</a:t>
            </a:r>
            <a:endParaRPr lang="en-US" sz="1300" dirty="0"/>
          </a:p>
        </p:txBody>
      </p:sp>
      <p:sp>
        <p:nvSpPr>
          <p:cNvPr id="56" name="Text 49"/>
          <p:cNvSpPr/>
          <p:nvPr/>
        </p:nvSpPr>
        <p:spPr>
          <a:xfrm>
            <a:off x="14086332" y="5303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0" dirty="0">
                <a:solidFill>
                  <a:srgbClr val="E0A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STACK</a:t>
            </a:r>
            <a:endParaRPr lang="en-US" sz="1000" dirty="0"/>
          </a:p>
        </p:txBody>
      </p:sp>
      <p:sp>
        <p:nvSpPr>
          <p:cNvPr id="57" name="Text 50"/>
          <p:cNvSpPr/>
          <p:nvPr/>
        </p:nvSpPr>
        <p:spPr>
          <a:xfrm>
            <a:off x="14086332" y="562356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7F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External specialist development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7F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Dedicated API/microservice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F7F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as orchestrator</a:t>
            </a:r>
            <a:endParaRPr lang="en-US" sz="1200" dirty="0"/>
          </a:p>
        </p:txBody>
      </p:sp>
      <p:sp>
        <p:nvSpPr>
          <p:cNvPr id="58" name="Text 51"/>
          <p:cNvSpPr/>
          <p:nvPr/>
        </p:nvSpPr>
        <p:spPr>
          <a:xfrm>
            <a:off x="14086332" y="7452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0" dirty="0">
                <a:solidFill>
                  <a:srgbClr val="E0A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TO USE</a:t>
            </a:r>
            <a:endParaRPr lang="en-US" sz="1000" dirty="0"/>
          </a:p>
        </p:txBody>
      </p:sp>
      <p:sp>
        <p:nvSpPr>
          <p:cNvPr id="59" name="Text 52"/>
          <p:cNvSpPr/>
          <p:nvPr/>
        </p:nvSpPr>
        <p:spPr>
          <a:xfrm>
            <a:off x="14086332" y="77724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F7F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OCR on P&amp;ID/contracts, defect image recognition, advanced document classification, scoring models.</a:t>
            </a:r>
            <a:endParaRPr lang="en-US" sz="1200" dirty="0"/>
          </a:p>
        </p:txBody>
      </p:sp>
      <p:sp>
        <p:nvSpPr>
          <p:cNvPr id="60" name="Shape 53"/>
          <p:cNvSpPr/>
          <p:nvPr/>
        </p:nvSpPr>
        <p:spPr>
          <a:xfrm>
            <a:off x="14086332" y="8549640"/>
            <a:ext cx="3474720" cy="365760"/>
          </a:xfrm>
          <a:prstGeom prst="rect">
            <a:avLst/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54"/>
          <p:cNvSpPr/>
          <p:nvPr/>
        </p:nvSpPr>
        <p:spPr>
          <a:xfrm>
            <a:off x="14086332" y="8549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6–10 weeks (+ dev stream)</a:t>
            </a:r>
            <a:endParaRPr lang="en-US" sz="1100" dirty="0"/>
          </a:p>
        </p:txBody>
      </p:sp>
      <p:pic>
        <p:nvPicPr>
          <p:cNvPr id="62" name="Immagine 61">
            <a:extLst>
              <a:ext uri="{FF2B5EF4-FFF2-40B4-BE49-F238E27FC236}">
                <a16:creationId xmlns:a16="http://schemas.microsoft.com/office/drawing/2014/main" id="{FD1EBB59-3AE0-2A16-B8F8-43B05601B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58790" y="315088"/>
            <a:ext cx="1380570" cy="6313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friendly-dirac/mnt/outputs/bami_img1.jpe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63840" cy="8686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48640" y="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cases by Saipem department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9857232"/>
            <a:ext cx="17190720" cy="0"/>
          </a:xfrm>
          <a:prstGeom prst="line">
            <a:avLst/>
          </a:prstGeom>
          <a:noFill/>
          <a:ln w="9525">
            <a:solidFill>
              <a:srgbClr val="D9D7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48640" y="9921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DELIVERING VALUE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509760" y="9921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Proprietary &amp;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280160"/>
            <a:ext cx="1719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process, different examples. Every department has candidate agents in each of the four tiers.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794760" y="2240280"/>
            <a:ext cx="3520440" cy="502920"/>
          </a:xfrm>
          <a:prstGeom prst="rect">
            <a:avLst/>
          </a:prstGeom>
          <a:solidFill>
            <a:srgbClr val="5BD2C7"/>
          </a:solidFill>
          <a:ln w="12700">
            <a:solidFill>
              <a:srgbClr val="5BD2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3794760" y="22402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0 — Simple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06640" y="2240280"/>
            <a:ext cx="3520440" cy="502920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7406640" y="22402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1 — Skills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1018520" y="2240280"/>
            <a:ext cx="3520440" cy="50292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11018520" y="22402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2 — RAG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4630400" y="2240280"/>
            <a:ext cx="3520440" cy="502920"/>
          </a:xfrm>
          <a:prstGeom prst="rect">
            <a:avLst/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14630400" y="22402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3 — Extra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2880360"/>
            <a:ext cx="3108960" cy="20116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3063240"/>
            <a:ext cx="640080" cy="6400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3749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Engineering &amp; Construction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822960" y="4251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B7E9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Project, Engineering, HSE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794760" y="2880360"/>
            <a:ext cx="3520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7D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9"/>
          <p:cNvSpPr/>
          <p:nvPr/>
        </p:nvSpPr>
        <p:spPr>
          <a:xfrm>
            <a:off x="3794760" y="2880360"/>
            <a:ext cx="3520440" cy="73152"/>
          </a:xfrm>
          <a:prstGeom prst="rect">
            <a:avLst/>
          </a:prstGeom>
          <a:solidFill>
            <a:srgbClr val="5BD2C7"/>
          </a:solidFill>
          <a:ln w="12700">
            <a:solidFill>
              <a:srgbClr val="5BD2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0"/>
          <p:cNvSpPr/>
          <p:nvPr/>
        </p:nvSpPr>
        <p:spPr>
          <a:xfrm>
            <a:off x="406908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Q&amp;A on HSE procedures and site-specific rules.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406640" y="2880360"/>
            <a:ext cx="3520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7D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2"/>
          <p:cNvSpPr/>
          <p:nvPr/>
        </p:nvSpPr>
        <p:spPr>
          <a:xfrm>
            <a:off x="7406640" y="2880360"/>
            <a:ext cx="3520440" cy="73152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3"/>
          <p:cNvSpPr/>
          <p:nvPr/>
        </p:nvSpPr>
        <p:spPr>
          <a:xfrm>
            <a:off x="768096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Asset/spec lookup integrated with the engineering DB.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11018520" y="2880360"/>
            <a:ext cx="3520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7D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5"/>
          <p:cNvSpPr/>
          <p:nvPr/>
        </p:nvSpPr>
        <p:spPr>
          <a:xfrm>
            <a:off x="11018520" y="2880360"/>
            <a:ext cx="3520440" cy="73152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6"/>
          <p:cNvSpPr/>
          <p:nvPr/>
        </p:nvSpPr>
        <p:spPr>
          <a:xfrm>
            <a:off x="1129284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Grounding on project specs, drawings, technical docs.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14630400" y="2880360"/>
            <a:ext cx="3520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7D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28"/>
          <p:cNvSpPr/>
          <p:nvPr/>
        </p:nvSpPr>
        <p:spPr>
          <a:xfrm>
            <a:off x="14630400" y="2880360"/>
            <a:ext cx="3520440" cy="73152"/>
          </a:xfrm>
          <a:prstGeom prst="rect">
            <a:avLst/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29"/>
          <p:cNvSpPr/>
          <p:nvPr/>
        </p:nvSpPr>
        <p:spPr>
          <a:xfrm>
            <a:off x="149047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OCR/CV on P&amp;ID; defect detection from site imagery.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548640" y="5029200"/>
            <a:ext cx="3108960" cy="20116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960" y="5212080"/>
            <a:ext cx="640080" cy="64008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22960" y="5897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Procurement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822960" y="6400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B7E9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Sourcing, Contracts, Vendor Management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3794760" y="5029200"/>
            <a:ext cx="3520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7D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9" name="Shape 34"/>
          <p:cNvSpPr/>
          <p:nvPr/>
        </p:nvSpPr>
        <p:spPr>
          <a:xfrm>
            <a:off x="3794760" y="5029200"/>
            <a:ext cx="3520440" cy="73152"/>
          </a:xfrm>
          <a:prstGeom prst="rect">
            <a:avLst/>
          </a:prstGeom>
          <a:solidFill>
            <a:srgbClr val="5BD2C7"/>
          </a:solidFill>
          <a:ln w="12700">
            <a:solidFill>
              <a:srgbClr val="5BD2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5"/>
          <p:cNvSpPr/>
          <p:nvPr/>
        </p:nvSpPr>
        <p:spPr>
          <a:xfrm>
            <a:off x="4069080" y="53035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Q&amp;A on procurement policy and approval workflows.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7406640" y="5029200"/>
            <a:ext cx="3520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7D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2" name="Shape 37"/>
          <p:cNvSpPr/>
          <p:nvPr/>
        </p:nvSpPr>
        <p:spPr>
          <a:xfrm>
            <a:off x="7406640" y="5029200"/>
            <a:ext cx="3520440" cy="73152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38"/>
          <p:cNvSpPr/>
          <p:nvPr/>
        </p:nvSpPr>
        <p:spPr>
          <a:xfrm>
            <a:off x="7680960" y="53035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Vendor lookup with spend, qualification, agentic shortlist.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11018520" y="5029200"/>
            <a:ext cx="3520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7D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5" name="Shape 40"/>
          <p:cNvSpPr/>
          <p:nvPr/>
        </p:nvSpPr>
        <p:spPr>
          <a:xfrm>
            <a:off x="11018520" y="5029200"/>
            <a:ext cx="3520440" cy="73152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1"/>
          <p:cNvSpPr/>
          <p:nvPr/>
        </p:nvSpPr>
        <p:spPr>
          <a:xfrm>
            <a:off x="11292840" y="53035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Semantic search across contracts for clauses and SLAs.</a:t>
            </a:r>
            <a:endParaRPr lang="en-US" sz="1200" dirty="0"/>
          </a:p>
        </p:txBody>
      </p:sp>
      <p:sp>
        <p:nvSpPr>
          <p:cNvPr id="47" name="Shape 42"/>
          <p:cNvSpPr/>
          <p:nvPr/>
        </p:nvSpPr>
        <p:spPr>
          <a:xfrm>
            <a:off x="14630400" y="5029200"/>
            <a:ext cx="3520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7D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8" name="Shape 43"/>
          <p:cNvSpPr/>
          <p:nvPr/>
        </p:nvSpPr>
        <p:spPr>
          <a:xfrm>
            <a:off x="14630400" y="5029200"/>
            <a:ext cx="3520440" cy="73152"/>
          </a:xfrm>
          <a:prstGeom prst="rect">
            <a:avLst/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4"/>
          <p:cNvSpPr/>
          <p:nvPr/>
        </p:nvSpPr>
        <p:spPr>
          <a:xfrm>
            <a:off x="14904720" y="53035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extraction of clauses from signed PDFs.</a:t>
            </a:r>
            <a:endParaRPr lang="en-US" sz="1200" dirty="0"/>
          </a:p>
        </p:txBody>
      </p:sp>
      <p:sp>
        <p:nvSpPr>
          <p:cNvPr id="50" name="Shape 45"/>
          <p:cNvSpPr/>
          <p:nvPr/>
        </p:nvSpPr>
        <p:spPr>
          <a:xfrm>
            <a:off x="548640" y="7178040"/>
            <a:ext cx="3108960" cy="20116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7360920"/>
            <a:ext cx="640080" cy="640080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822960" y="8046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Corporate</a:t>
            </a:r>
            <a:endParaRPr lang="en-US" sz="1500" dirty="0"/>
          </a:p>
        </p:txBody>
      </p:sp>
      <p:sp>
        <p:nvSpPr>
          <p:cNvPr id="53" name="Text 47"/>
          <p:cNvSpPr/>
          <p:nvPr/>
        </p:nvSpPr>
        <p:spPr>
          <a:xfrm>
            <a:off x="822960" y="8549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B7E9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HR, Finance, Legal, Communication</a:t>
            </a:r>
            <a:endParaRPr lang="en-US" sz="1050" dirty="0"/>
          </a:p>
        </p:txBody>
      </p:sp>
      <p:sp>
        <p:nvSpPr>
          <p:cNvPr id="54" name="Shape 48"/>
          <p:cNvSpPr/>
          <p:nvPr/>
        </p:nvSpPr>
        <p:spPr>
          <a:xfrm>
            <a:off x="3794760" y="7178040"/>
            <a:ext cx="3520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7D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5" name="Shape 49"/>
          <p:cNvSpPr/>
          <p:nvPr/>
        </p:nvSpPr>
        <p:spPr>
          <a:xfrm>
            <a:off x="3794760" y="7178040"/>
            <a:ext cx="3520440" cy="73152"/>
          </a:xfrm>
          <a:prstGeom prst="rect">
            <a:avLst/>
          </a:prstGeom>
          <a:solidFill>
            <a:srgbClr val="5BD2C7"/>
          </a:solidFill>
          <a:ln w="12700">
            <a:solidFill>
              <a:srgbClr val="5BD2C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0"/>
          <p:cNvSpPr/>
          <p:nvPr/>
        </p:nvSpPr>
        <p:spPr>
          <a:xfrm>
            <a:off x="4069080" y="74523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HR FAQ (leave, policy), internal onboarding assistant.</a:t>
            </a:r>
            <a:endParaRPr lang="en-US" sz="1200" dirty="0"/>
          </a:p>
        </p:txBody>
      </p:sp>
      <p:sp>
        <p:nvSpPr>
          <p:cNvPr id="57" name="Shape 51"/>
          <p:cNvSpPr/>
          <p:nvPr/>
        </p:nvSpPr>
        <p:spPr>
          <a:xfrm>
            <a:off x="7406640" y="7178040"/>
            <a:ext cx="3520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7D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8" name="Shape 52"/>
          <p:cNvSpPr/>
          <p:nvPr/>
        </p:nvSpPr>
        <p:spPr>
          <a:xfrm>
            <a:off x="7406640" y="7178040"/>
            <a:ext cx="3520440" cy="73152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53"/>
          <p:cNvSpPr/>
          <p:nvPr/>
        </p:nvSpPr>
        <p:spPr>
          <a:xfrm>
            <a:off x="7680960" y="74523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Travel/expense agent integrated with the expense system.</a:t>
            </a:r>
            <a:endParaRPr lang="en-US" sz="1200" dirty="0"/>
          </a:p>
        </p:txBody>
      </p:sp>
      <p:sp>
        <p:nvSpPr>
          <p:cNvPr id="60" name="Shape 54"/>
          <p:cNvSpPr/>
          <p:nvPr/>
        </p:nvSpPr>
        <p:spPr>
          <a:xfrm>
            <a:off x="11018520" y="7178040"/>
            <a:ext cx="3520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7D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1" name="Shape 55"/>
          <p:cNvSpPr/>
          <p:nvPr/>
        </p:nvSpPr>
        <p:spPr>
          <a:xfrm>
            <a:off x="11018520" y="7178040"/>
            <a:ext cx="3520440" cy="73152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56"/>
          <p:cNvSpPr/>
          <p:nvPr/>
        </p:nvSpPr>
        <p:spPr>
          <a:xfrm>
            <a:off x="11292840" y="74523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Grounding on internal regulations, circulars, knowledge.</a:t>
            </a:r>
            <a:endParaRPr lang="en-US" sz="1200" dirty="0"/>
          </a:p>
        </p:txBody>
      </p:sp>
      <p:sp>
        <p:nvSpPr>
          <p:cNvPr id="63" name="Shape 57"/>
          <p:cNvSpPr/>
          <p:nvPr/>
        </p:nvSpPr>
        <p:spPr>
          <a:xfrm>
            <a:off x="14630400" y="7178040"/>
            <a:ext cx="3520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7D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4" name="Shape 58"/>
          <p:cNvSpPr/>
          <p:nvPr/>
        </p:nvSpPr>
        <p:spPr>
          <a:xfrm>
            <a:off x="14630400" y="7178040"/>
            <a:ext cx="3520440" cy="73152"/>
          </a:xfrm>
          <a:prstGeom prst="rect">
            <a:avLst/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59"/>
          <p:cNvSpPr/>
          <p:nvPr/>
        </p:nvSpPr>
        <p:spPr>
          <a:xfrm>
            <a:off x="14904720" y="74523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Computer vision on identity docs for KYC onboarding.</a:t>
            </a:r>
            <a:endParaRPr lang="en-US" sz="1200" dirty="0"/>
          </a:p>
        </p:txBody>
      </p:sp>
      <p:sp>
        <p:nvSpPr>
          <p:cNvPr id="66" name="Text 60"/>
          <p:cNvSpPr/>
          <p:nvPr/>
        </p:nvSpPr>
        <p:spPr>
          <a:xfrm>
            <a:off x="548640" y="9418320"/>
            <a:ext cx="1719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Indicative examples. The operational proposal is always produced after the Evaluation phase.</a:t>
            </a:r>
            <a:endParaRPr lang="en-US" sz="1100" dirty="0"/>
          </a:p>
        </p:txBody>
      </p:sp>
      <p:pic>
        <p:nvPicPr>
          <p:cNvPr id="67" name="Immagine 66">
            <a:extLst>
              <a:ext uri="{FF2B5EF4-FFF2-40B4-BE49-F238E27FC236}">
                <a16:creationId xmlns:a16="http://schemas.microsoft.com/office/drawing/2014/main" id="{5CBF9981-072C-77CF-21F2-7737B4121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58790" y="315088"/>
            <a:ext cx="1380570" cy="6313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friendly-dirac/mnt/outputs/bami_img1.jpe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63840" cy="8686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48640" y="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demand management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9857232"/>
            <a:ext cx="17190720" cy="0"/>
          </a:xfrm>
          <a:prstGeom prst="line">
            <a:avLst/>
          </a:prstGeom>
          <a:noFill/>
          <a:ln w="9525">
            <a:solidFill>
              <a:srgbClr val="D9D7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48640" y="9921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DELIVERING VALUE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509760" y="9921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Proprietary &amp;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280160"/>
            <a:ext cx="1719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Bami turns inbound agent requests into qualified Quick Proposals. Five assessment dimensions, one output package.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11480" y="2148840"/>
            <a:ext cx="331012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411480" y="2148840"/>
            <a:ext cx="3310128" cy="91440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731520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5768" y="256032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" y="3337560"/>
            <a:ext cx="2670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Intent &amp; Outcome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31520" y="4114800"/>
            <a:ext cx="26700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agent must do, for whom, with which measurable success criteria.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950208" y="2148840"/>
            <a:ext cx="331012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3950208" y="2148840"/>
            <a:ext cx="3310128" cy="91440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4"/>
          <p:cNvSpPr/>
          <p:nvPr/>
        </p:nvSpPr>
        <p:spPr>
          <a:xfrm>
            <a:off x="4270248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4496" y="256032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270248" y="3337560"/>
            <a:ext cx="2670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&amp; Knowledge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270248" y="4114800"/>
            <a:ext cx="26700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Available corpus, quality, freshness, access scope, sensitive data.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488936" y="2148840"/>
            <a:ext cx="331012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7488936" y="2148840"/>
            <a:ext cx="3310128" cy="91440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9"/>
          <p:cNvSpPr/>
          <p:nvPr/>
        </p:nvSpPr>
        <p:spPr>
          <a:xfrm>
            <a:off x="7808976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93224" y="2560320"/>
            <a:ext cx="640080" cy="6400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08976" y="3337560"/>
            <a:ext cx="2670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808976" y="4114800"/>
            <a:ext cx="26700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systems (SAP, SharePoint, Vendor Master, etc.), APIs and connectors required.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11027664" y="2148840"/>
            <a:ext cx="331012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3"/>
          <p:cNvSpPr/>
          <p:nvPr/>
        </p:nvSpPr>
        <p:spPr>
          <a:xfrm>
            <a:off x="11027664" y="2148840"/>
            <a:ext cx="3310128" cy="91440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4"/>
          <p:cNvSpPr/>
          <p:nvPr/>
        </p:nvSpPr>
        <p:spPr>
          <a:xfrm>
            <a:off x="11347704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4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331952" y="2560320"/>
            <a:ext cx="640080" cy="6400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1347704" y="3337560"/>
            <a:ext cx="2670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Usage modes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11347704" y="4114800"/>
            <a:ext cx="26700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Channels (Teams, Outlook, web), self-service vs. assisted, expected volume, multilingual.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14566392" y="2148840"/>
            <a:ext cx="331012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Shape 28"/>
          <p:cNvSpPr/>
          <p:nvPr/>
        </p:nvSpPr>
        <p:spPr>
          <a:xfrm>
            <a:off x="14566392" y="2148840"/>
            <a:ext cx="3310128" cy="91440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29"/>
          <p:cNvSpPr/>
          <p:nvPr/>
        </p:nvSpPr>
        <p:spPr>
          <a:xfrm>
            <a:off x="14886432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4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870680" y="2560320"/>
            <a:ext cx="640080" cy="64008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4886432" y="3337560"/>
            <a:ext cx="2670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&amp; risk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14886432" y="4114800"/>
            <a:ext cx="26700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Compliance, audit, PII, human escalation, approval model, AI Act fit.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548640" y="6400800"/>
            <a:ext cx="17190720" cy="27432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Shape 33"/>
          <p:cNvSpPr/>
          <p:nvPr/>
        </p:nvSpPr>
        <p:spPr>
          <a:xfrm>
            <a:off x="548640" y="6400800"/>
            <a:ext cx="17190720" cy="109728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34"/>
          <p:cNvSpPr/>
          <p:nvPr/>
        </p:nvSpPr>
        <p:spPr>
          <a:xfrm>
            <a:off x="914400" y="6675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400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OUTPUT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731520" y="72237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Synthetic score</a:t>
            </a:r>
            <a:endParaRPr lang="en-US" sz="1500" dirty="0"/>
          </a:p>
        </p:txBody>
      </p:sp>
      <p:sp>
        <p:nvSpPr>
          <p:cNvPr id="44" name="Text 36"/>
          <p:cNvSpPr/>
          <p:nvPr/>
        </p:nvSpPr>
        <p:spPr>
          <a:xfrm>
            <a:off x="731520" y="772668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F7F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1–5 per dimension and overall, plus confidence level.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4983480" y="72237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Candidate tier</a:t>
            </a:r>
            <a:endParaRPr lang="en-US" sz="1500" dirty="0"/>
          </a:p>
        </p:txBody>
      </p:sp>
      <p:sp>
        <p:nvSpPr>
          <p:cNvPr id="46" name="Text 38"/>
          <p:cNvSpPr/>
          <p:nvPr/>
        </p:nvSpPr>
        <p:spPr>
          <a:xfrm>
            <a:off x="4983480" y="772668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F7F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0 / 1 / 2 / 3 with rationale and alternatives weighed.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9235440" y="72237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 analysis</a:t>
            </a:r>
            <a:endParaRPr lang="en-US" sz="1500" dirty="0"/>
          </a:p>
        </p:txBody>
      </p:sp>
      <p:sp>
        <p:nvSpPr>
          <p:cNvPr id="48" name="Text 40"/>
          <p:cNvSpPr/>
          <p:nvPr/>
        </p:nvSpPr>
        <p:spPr>
          <a:xfrm>
            <a:off x="9235440" y="772668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F7F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missing to start: data, integrations, sponsor, governance.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13487400" y="72237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Recipients map</a:t>
            </a:r>
            <a:endParaRPr lang="en-US" sz="1500" dirty="0"/>
          </a:p>
        </p:txBody>
      </p:sp>
      <p:sp>
        <p:nvSpPr>
          <p:cNvPr id="50" name="Text 42"/>
          <p:cNvSpPr/>
          <p:nvPr/>
        </p:nvSpPr>
        <p:spPr>
          <a:xfrm>
            <a:off x="13487400" y="772668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F7F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Sponsor, technical owner, Bami squad, go/no-go milestones.</a:t>
            </a:r>
            <a:endParaRPr lang="en-US" sz="1200" dirty="0"/>
          </a:p>
        </p:txBody>
      </p:sp>
      <p:pic>
        <p:nvPicPr>
          <p:cNvPr id="51" name="Immagine 50">
            <a:extLst>
              <a:ext uri="{FF2B5EF4-FFF2-40B4-BE49-F238E27FC236}">
                <a16:creationId xmlns:a16="http://schemas.microsoft.com/office/drawing/2014/main" id="{965E3DFE-AEF3-21F5-065B-9310EFFD9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58790" y="315088"/>
            <a:ext cx="1380570" cy="6313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friendly-dirac/mnt/outputs/bami_img1.jpe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63840" cy="8686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48640" y="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Worked example — Procurement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9857232"/>
            <a:ext cx="17190720" cy="0"/>
          </a:xfrm>
          <a:prstGeom prst="line">
            <a:avLst/>
          </a:prstGeom>
          <a:noFill/>
          <a:ln w="9525">
            <a:solidFill>
              <a:srgbClr val="D9D7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48640" y="9921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DELIVERING VALUE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509760" y="9921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Proprietary &amp;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280160"/>
            <a:ext cx="1719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one idea travels through the Agent Factory — from intake to vendor alerts.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148840"/>
            <a:ext cx="4206240" cy="36576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548640" y="2148840"/>
            <a:ext cx="4206240" cy="109728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86868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400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REQUESTER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680" y="2971800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736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Procurement Manager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73736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B7E9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Sourcing &amp; Vendor Management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68680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200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IDEA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68680" y="43434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F7F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“I want an agent that scans our supplier contracts and flags late-payment and indemnity clauses before renewal.”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486400" y="3246120"/>
            <a:ext cx="11887200" cy="0"/>
          </a:xfrm>
          <a:prstGeom prst="line">
            <a:avLst/>
          </a:prstGeom>
          <a:noFill/>
          <a:ln w="19050">
            <a:solidFill>
              <a:srgbClr val="1FB8B8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6183630" y="2834640"/>
            <a:ext cx="822960" cy="822960"/>
          </a:xfrm>
          <a:prstGeom prst="ellipse">
            <a:avLst/>
          </a:prstGeom>
          <a:solidFill>
            <a:srgbClr val="1FB8B8"/>
          </a:solidFill>
          <a:ln w="50800">
            <a:solidFill>
              <a:srgbClr val="F7F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6510" y="30175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20640" y="2148840"/>
            <a:ext cx="2948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120640" y="3840480"/>
            <a:ext cx="29489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18"/>
          <p:cNvSpPr/>
          <p:nvPr/>
        </p:nvSpPr>
        <p:spPr>
          <a:xfrm>
            <a:off x="5349240" y="4023360"/>
            <a:ext cx="2491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Submitted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349240" y="4480560"/>
            <a:ext cx="2491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Procurement Manager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349240" y="4846320"/>
            <a:ext cx="2491740" cy="274320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1"/>
          <p:cNvSpPr/>
          <p:nvPr/>
        </p:nvSpPr>
        <p:spPr>
          <a:xfrm>
            <a:off x="5349240" y="4846320"/>
            <a:ext cx="2491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349240" y="5257800"/>
            <a:ext cx="24917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 filed via the Bami intake form. Auto-enriched with persona, business unit and data hints.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9406890" y="2834640"/>
            <a:ext cx="822960" cy="822960"/>
          </a:xfrm>
          <a:prstGeom prst="ellipse">
            <a:avLst/>
          </a:prstGeom>
          <a:solidFill>
            <a:srgbClr val="1FB8B8"/>
          </a:solidFill>
          <a:ln w="50800">
            <a:solidFill>
              <a:srgbClr val="F7F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9770" y="301752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343900" y="2148840"/>
            <a:ext cx="2948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31" name="Shape 25"/>
          <p:cNvSpPr/>
          <p:nvPr/>
        </p:nvSpPr>
        <p:spPr>
          <a:xfrm>
            <a:off x="8343900" y="3840480"/>
            <a:ext cx="29489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Text 26"/>
          <p:cNvSpPr/>
          <p:nvPr/>
        </p:nvSpPr>
        <p:spPr>
          <a:xfrm>
            <a:off x="8572500" y="4023360"/>
            <a:ext cx="2491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Evaluated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8572500" y="4480560"/>
            <a:ext cx="2491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BAMI × Sponsor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8572500" y="4846320"/>
            <a:ext cx="2491740" cy="274320"/>
          </a:xfrm>
          <a:prstGeom prst="rect">
            <a:avLst/>
          </a:prstGeom>
          <a:solidFill>
            <a:srgbClr val="0E7A7A"/>
          </a:solidFill>
          <a:ln w="12700">
            <a:solidFill>
              <a:srgbClr val="0E7A7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29"/>
          <p:cNvSpPr/>
          <p:nvPr/>
        </p:nvSpPr>
        <p:spPr>
          <a:xfrm>
            <a:off x="8572500" y="4846320"/>
            <a:ext cx="2491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2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8572500" y="5257800"/>
            <a:ext cx="24917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5-dimension assessment in 48h. Output: candidate Tier 2, RAG on contract corpus. Gap: labelling.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12630150" y="2834640"/>
            <a:ext cx="822960" cy="822960"/>
          </a:xfrm>
          <a:prstGeom prst="ellipse">
            <a:avLst/>
          </a:prstGeom>
          <a:solidFill>
            <a:srgbClr val="1FB8B8"/>
          </a:solidFill>
          <a:ln w="50800">
            <a:solidFill>
              <a:srgbClr val="F7F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13030" y="3017520"/>
            <a:ext cx="457200" cy="45720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1567160" y="2148840"/>
            <a:ext cx="2948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40" name="Shape 33"/>
          <p:cNvSpPr/>
          <p:nvPr/>
        </p:nvSpPr>
        <p:spPr>
          <a:xfrm>
            <a:off x="11567160" y="3840480"/>
            <a:ext cx="29489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1" name="Text 34"/>
          <p:cNvSpPr/>
          <p:nvPr/>
        </p:nvSpPr>
        <p:spPr>
          <a:xfrm>
            <a:off x="11795760" y="4023360"/>
            <a:ext cx="2491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Proposed</a:t>
            </a:r>
            <a:endParaRPr lang="en-US" sz="1600" dirty="0"/>
          </a:p>
        </p:txBody>
      </p:sp>
      <p:sp>
        <p:nvSpPr>
          <p:cNvPr id="42" name="Text 35"/>
          <p:cNvSpPr/>
          <p:nvPr/>
        </p:nvSpPr>
        <p:spPr>
          <a:xfrm>
            <a:off x="11795760" y="4480560"/>
            <a:ext cx="2491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BAMI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11795760" y="4846320"/>
            <a:ext cx="2491740" cy="2743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37"/>
          <p:cNvSpPr/>
          <p:nvPr/>
        </p:nvSpPr>
        <p:spPr>
          <a:xfrm>
            <a:off x="11795760" y="4846320"/>
            <a:ext cx="2491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11795760" y="5257800"/>
            <a:ext cx="24917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doc: scope, roadmap, milestones, owners, acceptance criteria. To sponsor.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15853410" y="2834640"/>
            <a:ext cx="822960" cy="822960"/>
          </a:xfrm>
          <a:prstGeom prst="ellipse">
            <a:avLst/>
          </a:prstGeom>
          <a:solidFill>
            <a:srgbClr val="1FB8B8"/>
          </a:solidFill>
          <a:ln w="50800">
            <a:solidFill>
              <a:srgbClr val="F7F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036290" y="3017520"/>
            <a:ext cx="457200" cy="45720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14790420" y="2148840"/>
            <a:ext cx="2948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49" name="Shape 41"/>
          <p:cNvSpPr/>
          <p:nvPr/>
        </p:nvSpPr>
        <p:spPr>
          <a:xfrm>
            <a:off x="14790420" y="3840480"/>
            <a:ext cx="29489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0" name="Text 42"/>
          <p:cNvSpPr/>
          <p:nvPr/>
        </p:nvSpPr>
        <p:spPr>
          <a:xfrm>
            <a:off x="15019020" y="4023360"/>
            <a:ext cx="2491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</a:t>
            </a:r>
            <a:endParaRPr lang="en-US" sz="1600" dirty="0"/>
          </a:p>
        </p:txBody>
      </p:sp>
      <p:sp>
        <p:nvSpPr>
          <p:cNvPr id="51" name="Text 43"/>
          <p:cNvSpPr/>
          <p:nvPr/>
        </p:nvSpPr>
        <p:spPr>
          <a:xfrm>
            <a:off x="15019020" y="4480560"/>
            <a:ext cx="2491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Sponsor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15019020" y="4846320"/>
            <a:ext cx="2491740" cy="274320"/>
          </a:xfrm>
          <a:prstGeom prst="rect">
            <a:avLst/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45"/>
          <p:cNvSpPr/>
          <p:nvPr/>
        </p:nvSpPr>
        <p:spPr>
          <a:xfrm>
            <a:off x="15019020" y="4846320"/>
            <a:ext cx="2491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 / NO-GO</a:t>
            </a:r>
            <a:endParaRPr lang="en-US" sz="1000" dirty="0"/>
          </a:p>
        </p:txBody>
      </p:sp>
      <p:sp>
        <p:nvSpPr>
          <p:cNvPr id="54" name="Text 46"/>
          <p:cNvSpPr/>
          <p:nvPr/>
        </p:nvSpPr>
        <p:spPr>
          <a:xfrm>
            <a:off x="15019020" y="5257800"/>
            <a:ext cx="24917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Sponsor approves or rejects. Approved → alert chain. Rejected → feedback to requester.</a:t>
            </a:r>
            <a:endParaRPr lang="en-US" sz="1100" dirty="0"/>
          </a:p>
        </p:txBody>
      </p:sp>
      <p:sp>
        <p:nvSpPr>
          <p:cNvPr id="55" name="Shape 47"/>
          <p:cNvSpPr/>
          <p:nvPr/>
        </p:nvSpPr>
        <p:spPr>
          <a:xfrm>
            <a:off x="548640" y="6355080"/>
            <a:ext cx="115214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2BAE6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6" name="Shape 48"/>
          <p:cNvSpPr/>
          <p:nvPr/>
        </p:nvSpPr>
        <p:spPr>
          <a:xfrm>
            <a:off x="548640" y="6355080"/>
            <a:ext cx="164592" cy="2788920"/>
          </a:xfrm>
          <a:prstGeom prst="rect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49"/>
          <p:cNvSpPr/>
          <p:nvPr/>
        </p:nvSpPr>
        <p:spPr>
          <a:xfrm>
            <a:off x="1005840" y="65836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400" dirty="0">
                <a:solidFill>
                  <a:srgbClr val="2BAE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APPROVED — ALERT CHAIN</a:t>
            </a:r>
            <a:endParaRPr lang="en-US" sz="1200" dirty="0"/>
          </a:p>
        </p:txBody>
      </p:sp>
      <p:sp>
        <p:nvSpPr>
          <p:cNvPr id="58" name="Text 50"/>
          <p:cNvSpPr/>
          <p:nvPr/>
        </p:nvSpPr>
        <p:spPr>
          <a:xfrm>
            <a:off x="1005840" y="6949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Once the sponsor approves, the recipient chain is triggered automatically.</a:t>
            </a:r>
            <a:endParaRPr lang="en-US" sz="1300" dirty="0"/>
          </a:p>
        </p:txBody>
      </p:sp>
      <p:sp>
        <p:nvSpPr>
          <p:cNvPr id="59" name="Shape 51"/>
          <p:cNvSpPr/>
          <p:nvPr/>
        </p:nvSpPr>
        <p:spPr>
          <a:xfrm>
            <a:off x="1005840" y="7680960"/>
            <a:ext cx="2446020" cy="1371600"/>
          </a:xfrm>
          <a:prstGeom prst="rect">
            <a:avLst/>
          </a:prstGeom>
          <a:solidFill>
            <a:srgbClr val="F7F6F2"/>
          </a:solidFill>
          <a:ln w="6350">
            <a:solidFill>
              <a:srgbClr val="D9D7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34440" y="7909560"/>
            <a:ext cx="502920" cy="502920"/>
          </a:xfrm>
          <a:prstGeom prst="rect">
            <a:avLst/>
          </a:prstGeom>
        </p:spPr>
      </p:pic>
      <p:sp>
        <p:nvSpPr>
          <p:cNvPr id="61" name="Text 52"/>
          <p:cNvSpPr/>
          <p:nvPr/>
        </p:nvSpPr>
        <p:spPr>
          <a:xfrm>
            <a:off x="1828800" y="7863840"/>
            <a:ext cx="15316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Vendors</a:t>
            </a:r>
            <a:endParaRPr lang="en-US" sz="1300" dirty="0"/>
          </a:p>
        </p:txBody>
      </p:sp>
      <p:sp>
        <p:nvSpPr>
          <p:cNvPr id="62" name="Text 53"/>
          <p:cNvSpPr/>
          <p:nvPr/>
        </p:nvSpPr>
        <p:spPr>
          <a:xfrm>
            <a:off x="1234440" y="8458200"/>
            <a:ext cx="1988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Notified that an AI agent will read their contracts. Disclosure + consent.</a:t>
            </a:r>
            <a:endParaRPr lang="en-US" sz="1050" dirty="0"/>
          </a:p>
        </p:txBody>
      </p:sp>
      <p:sp>
        <p:nvSpPr>
          <p:cNvPr id="63" name="Shape 54"/>
          <p:cNvSpPr/>
          <p:nvPr/>
        </p:nvSpPr>
        <p:spPr>
          <a:xfrm>
            <a:off x="3726180" y="7680960"/>
            <a:ext cx="2446020" cy="1371600"/>
          </a:xfrm>
          <a:prstGeom prst="rect">
            <a:avLst/>
          </a:prstGeom>
          <a:solidFill>
            <a:srgbClr val="F7F6F2"/>
          </a:solidFill>
          <a:ln w="6350">
            <a:solidFill>
              <a:srgbClr val="D9D7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54780" y="7909560"/>
            <a:ext cx="502920" cy="502920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4549140" y="7863840"/>
            <a:ext cx="15316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</a:t>
            </a:r>
            <a:endParaRPr lang="en-US" sz="1300" dirty="0"/>
          </a:p>
        </p:txBody>
      </p:sp>
      <p:sp>
        <p:nvSpPr>
          <p:cNvPr id="66" name="Text 56"/>
          <p:cNvSpPr/>
          <p:nvPr/>
        </p:nvSpPr>
        <p:spPr>
          <a:xfrm>
            <a:off x="3954780" y="8458200"/>
            <a:ext cx="1988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Recipients within the requester's BU and adjacent owners aligned on scope.</a:t>
            </a:r>
            <a:endParaRPr lang="en-US" sz="1050" dirty="0"/>
          </a:p>
        </p:txBody>
      </p:sp>
      <p:sp>
        <p:nvSpPr>
          <p:cNvPr id="67" name="Shape 57"/>
          <p:cNvSpPr/>
          <p:nvPr/>
        </p:nvSpPr>
        <p:spPr>
          <a:xfrm>
            <a:off x="6446520" y="7680960"/>
            <a:ext cx="2446020" cy="1371600"/>
          </a:xfrm>
          <a:prstGeom prst="rect">
            <a:avLst/>
          </a:prstGeom>
          <a:solidFill>
            <a:srgbClr val="F7F6F2"/>
          </a:solidFill>
          <a:ln w="6350">
            <a:solidFill>
              <a:srgbClr val="D9D7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75120" y="7909560"/>
            <a:ext cx="502920" cy="502920"/>
          </a:xfrm>
          <a:prstGeom prst="rect">
            <a:avLst/>
          </a:prstGeom>
        </p:spPr>
      </p:pic>
      <p:sp>
        <p:nvSpPr>
          <p:cNvPr id="69" name="Text 58"/>
          <p:cNvSpPr/>
          <p:nvPr/>
        </p:nvSpPr>
        <p:spPr>
          <a:xfrm>
            <a:off x="7269480" y="7863840"/>
            <a:ext cx="15316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&amp; Data</a:t>
            </a:r>
            <a:endParaRPr lang="en-US" sz="1300" dirty="0"/>
          </a:p>
        </p:txBody>
      </p:sp>
      <p:sp>
        <p:nvSpPr>
          <p:cNvPr id="70" name="Text 59"/>
          <p:cNvSpPr/>
          <p:nvPr/>
        </p:nvSpPr>
        <p:spPr>
          <a:xfrm>
            <a:off x="6675120" y="8458200"/>
            <a:ext cx="1988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owners, security, integration team engaged on access and ingestion.</a:t>
            </a:r>
            <a:endParaRPr lang="en-US" sz="1050" dirty="0"/>
          </a:p>
        </p:txBody>
      </p:sp>
      <p:sp>
        <p:nvSpPr>
          <p:cNvPr id="71" name="Shape 60"/>
          <p:cNvSpPr/>
          <p:nvPr/>
        </p:nvSpPr>
        <p:spPr>
          <a:xfrm>
            <a:off x="9166860" y="7680960"/>
            <a:ext cx="2446020" cy="1371600"/>
          </a:xfrm>
          <a:prstGeom prst="rect">
            <a:avLst/>
          </a:prstGeom>
          <a:solidFill>
            <a:srgbClr val="F7F6F2"/>
          </a:solidFill>
          <a:ln w="6350">
            <a:solidFill>
              <a:srgbClr val="D9D7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95460" y="7909560"/>
            <a:ext cx="502920" cy="502920"/>
          </a:xfrm>
          <a:prstGeom prst="rect">
            <a:avLst/>
          </a:prstGeom>
        </p:spPr>
      </p:pic>
      <p:sp>
        <p:nvSpPr>
          <p:cNvPr id="73" name="Text 61"/>
          <p:cNvSpPr/>
          <p:nvPr/>
        </p:nvSpPr>
        <p:spPr>
          <a:xfrm>
            <a:off x="9989820" y="7863840"/>
            <a:ext cx="15316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74" name="Text 62"/>
          <p:cNvSpPr/>
          <p:nvPr/>
        </p:nvSpPr>
        <p:spPr>
          <a:xfrm>
            <a:off x="9395460" y="8458200"/>
            <a:ext cx="1988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governance board logs the agent in the registry. EU AI Act fit confirmed.</a:t>
            </a:r>
            <a:endParaRPr lang="en-US" sz="1050" dirty="0"/>
          </a:p>
        </p:txBody>
      </p:sp>
      <p:sp>
        <p:nvSpPr>
          <p:cNvPr id="75" name="Shape 63"/>
          <p:cNvSpPr/>
          <p:nvPr/>
        </p:nvSpPr>
        <p:spPr>
          <a:xfrm>
            <a:off x="12435840" y="6355080"/>
            <a:ext cx="530352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C44C4C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6" name="Shape 64"/>
          <p:cNvSpPr/>
          <p:nvPr/>
        </p:nvSpPr>
        <p:spPr>
          <a:xfrm>
            <a:off x="12435840" y="6355080"/>
            <a:ext cx="164592" cy="2788920"/>
          </a:xfrm>
          <a:prstGeom prst="rect">
            <a:avLst/>
          </a:prstGeom>
          <a:solidFill>
            <a:srgbClr val="C44C4C"/>
          </a:solidFill>
          <a:ln w="12700">
            <a:solidFill>
              <a:srgbClr val="C44C4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Text 65"/>
          <p:cNvSpPr/>
          <p:nvPr/>
        </p:nvSpPr>
        <p:spPr>
          <a:xfrm>
            <a:off x="12801600" y="6583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400" dirty="0">
                <a:solidFill>
                  <a:srgbClr val="C44C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REJECTED — FEEDBACK LOOP</a:t>
            </a:r>
            <a:endParaRPr lang="en-US" sz="1200" dirty="0"/>
          </a:p>
        </p:txBody>
      </p:sp>
      <p:sp>
        <p:nvSpPr>
          <p:cNvPr id="78" name="Text 66"/>
          <p:cNvSpPr/>
          <p:nvPr/>
        </p:nvSpPr>
        <p:spPr>
          <a:xfrm>
            <a:off x="12801600" y="6995160"/>
            <a:ext cx="4572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Rationale logged. Requester gets structured feedback (gap, alternative tier). Idea can be resubmitted once the gap is closed.</a:t>
            </a:r>
            <a:endParaRPr lang="en-US" sz="1300" dirty="0"/>
          </a:p>
        </p:txBody>
      </p:sp>
      <p:pic>
        <p:nvPicPr>
          <p:cNvPr id="79" name="Immagine 78">
            <a:extLst>
              <a:ext uri="{FF2B5EF4-FFF2-40B4-BE49-F238E27FC236}">
                <a16:creationId xmlns:a16="http://schemas.microsoft.com/office/drawing/2014/main" id="{DA3E2F9E-C1F2-ECD1-6F3B-D605D58C6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358790" y="315088"/>
            <a:ext cx="1380570" cy="6313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telligent-friendly-dirac/mnt/outputs/bami_cover_bg.jpe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>
              <a:alpha val="70000"/>
            </a:srgbClr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822960" y="18288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400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kern="0" spc="-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start now.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1645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F7F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steps to begin. No commercial commitment after the first workshop.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1005840" y="5212080"/>
            <a:ext cx="5120640" cy="246888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371600" y="54406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1371600" y="6126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 &amp; governance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71600" y="66751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F7F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2-hour workshop with leads from the three departments to align scope, rules of engagement and governance model.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0" y="5212080"/>
            <a:ext cx="5120640" cy="246888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6949440" y="54406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6949440" y="6126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Intake setup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949440" y="66751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F7F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Bami configures the intake form and the evaluation model in your tenant. Output: portal ready to receive ideas.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2161520" y="5212080"/>
            <a:ext cx="5120640" cy="246888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12527280" y="54406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B8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12527280" y="6126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two PoCs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527280" y="66751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F7F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Pick two ideas (different tiers), run them end-to-end. The first proves the process, the second proves scalability.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0" y="8778240"/>
            <a:ext cx="18288000" cy="868680"/>
          </a:xfrm>
          <a:prstGeom prst="rect">
            <a:avLst/>
          </a:prstGeom>
          <a:solidFill>
            <a:srgbClr val="1FB8B8"/>
          </a:solidFill>
          <a:ln w="12700">
            <a:solidFill>
              <a:srgbClr val="1FB8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822960" y="8778240"/>
            <a:ext cx="1664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6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talk   </a:t>
            </a:r>
            <a:r>
              <a:rPr lang="en-US" sz="16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 </a:t>
            </a:r>
            <a:r>
              <a:rPr lang="en-US" sz="1600" dirty="0" err="1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</a:t>
            </a:r>
            <a:r>
              <a:rPr lang="fi-FI" sz="16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nfo@bamiengineering.com • bamiengineering.com • https://www.linkedin.com/company/bamiengineering​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22960" y="9784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400" dirty="0">
                <a:solidFill>
                  <a:srgbClr val="B7E9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DELIVERING VALUE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144000" y="9784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8A8A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Proprietary &amp; Confidential</a:t>
            </a:r>
            <a:endParaRPr lang="en-US" sz="1100" dirty="0"/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B51011E5-5115-542E-6D13-AC5A1149A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9000" y="162191"/>
            <a:ext cx="1887922" cy="9325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60A2A6C8F72447871A7EC435698DB7" ma:contentTypeVersion="12" ma:contentTypeDescription="Create a new document." ma:contentTypeScope="" ma:versionID="4583a9558856e98d047c680a7e692a08">
  <xsd:schema xmlns:xsd="http://www.w3.org/2001/XMLSchema" xmlns:xs="http://www.w3.org/2001/XMLSchema" xmlns:p="http://schemas.microsoft.com/office/2006/metadata/properties" xmlns:ns2="db76a949-f5c1-49f2-8b23-091fc036de0f" xmlns:ns3="aa4178d5-b68c-4093-98c4-da7857278716" targetNamespace="http://schemas.microsoft.com/office/2006/metadata/properties" ma:root="true" ma:fieldsID="85b33dffed475b63d7341c6bc7f5ac11" ns2:_="" ns3:_="">
    <xsd:import namespace="db76a949-f5c1-49f2-8b23-091fc036de0f"/>
    <xsd:import namespace="aa4178d5-b68c-4093-98c4-da78572787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6a949-f5c1-49f2-8b23-091fc036de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0ea930b5-9dde-4fe6-aca5-023f30488f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4178d5-b68c-4093-98c4-da785727871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7480ca5-76e5-4fb6-9eb5-63e4f44be5f5}" ma:internalName="TaxCatchAll" ma:showField="CatchAllData" ma:web="aa4178d5-b68c-4093-98c4-da78572787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a4178d5-b68c-4093-98c4-da7857278716" xsi:nil="true"/>
    <lcf76f155ced4ddcb4097134ff3c332f xmlns="db76a949-f5c1-49f2-8b23-091fc036de0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DCF5F2B-ADD4-41ED-BAFE-D61B194B6A14}"/>
</file>

<file path=customXml/itemProps2.xml><?xml version="1.0" encoding="utf-8"?>
<ds:datastoreItem xmlns:ds="http://schemas.openxmlformats.org/officeDocument/2006/customXml" ds:itemID="{AC0C2211-8009-4030-90EA-51E8FD31A500}"/>
</file>

<file path=customXml/itemProps3.xml><?xml version="1.0" encoding="utf-8"?>
<ds:datastoreItem xmlns:ds="http://schemas.openxmlformats.org/officeDocument/2006/customXml" ds:itemID="{DD68794C-5655-47A2-8110-769CB0E1169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1506</Words>
  <Application>Microsoft Office PowerPoint</Application>
  <PresentationFormat>Custom</PresentationFormat>
  <Paragraphs>236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BAMI S.r.l.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BAMI Agent Factory — Pitch</dc:title>
  <dc:subject>PptxGenJS Presentation</dc:subject>
  <dc:creator>BAMI S.r.l.</dc:creator>
  <cp:lastModifiedBy>Marco Mellacqua</cp:lastModifiedBy>
  <cp:revision>15</cp:revision>
  <dcterms:created xsi:type="dcterms:W3CDTF">2026-05-21T09:42:21Z</dcterms:created>
  <dcterms:modified xsi:type="dcterms:W3CDTF">2026-06-03T15:34:35Z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0x0101005460A2A6C8F72447871A7EC435698DB7</vt:lpwstr>
  </property>
</Properties>
</file>